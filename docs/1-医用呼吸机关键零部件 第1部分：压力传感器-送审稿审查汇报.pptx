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660" r:id="rId2"/>
    <p:sldId id="573" r:id="rId3"/>
    <p:sldId id="975" r:id="rId4"/>
    <p:sldId id="1109" r:id="rId5"/>
    <p:sldId id="1148" r:id="rId6"/>
    <p:sldId id="1140" r:id="rId7"/>
    <p:sldId id="1110" r:id="rId8"/>
    <p:sldId id="1149" r:id="rId9"/>
    <p:sldId id="1141" r:id="rId10"/>
    <p:sldId id="1147" r:id="rId11"/>
    <p:sldId id="1142" r:id="rId12"/>
    <p:sldId id="1150" r:id="rId13"/>
    <p:sldId id="1111" r:id="rId14"/>
    <p:sldId id="1144" r:id="rId15"/>
    <p:sldId id="1151" r:id="rId16"/>
    <p:sldId id="1112" r:id="rId17"/>
    <p:sldId id="1143" r:id="rId18"/>
    <p:sldId id="1152" r:id="rId19"/>
    <p:sldId id="1114" r:id="rId20"/>
    <p:sldId id="1146" r:id="rId21"/>
    <p:sldId id="572" r:id="rId22"/>
  </p:sldIdLst>
  <p:sldSz cx="9144000" cy="6858000" type="screen4x3"/>
  <p:notesSz cx="7099300" cy="10234613"/>
  <p:custDataLst>
    <p:tags r:id="rId2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10">
          <p15:clr>
            <a:srgbClr val="A4A3A4"/>
          </p15:clr>
        </p15:guide>
        <p15:guide id="2" pos="2880">
          <p15:clr>
            <a:srgbClr val="A4A3A4"/>
          </p15:clr>
        </p15:guide>
      </p15:sldGuideLst>
    </p:ext>
    <p:ext uri="{2D200454-40CA-4A62-9FC3-DE9A4176ACB9}">
      <p15:notesGuideLst xmlns:p15="http://schemas.microsoft.com/office/powerpoint/2012/main">
        <p15:guide id="1" orient="horz" pos="2998">
          <p15:clr>
            <a:srgbClr val="A4A3A4"/>
          </p15:clr>
        </p15:guide>
        <p15:guide id="2" pos="2146">
          <p15:clr>
            <a:srgbClr val="A4A3A4"/>
          </p15:clr>
        </p15:guide>
        <p15:guide id="3"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879"/>
    <a:srgbClr val="FFFF00"/>
    <a:srgbClr val="E5EB96"/>
    <a:srgbClr val="C55A11"/>
    <a:srgbClr val="008000"/>
    <a:srgbClr val="66FF66"/>
    <a:srgbClr val="B81C26"/>
    <a:srgbClr val="AED2FF"/>
    <a:srgbClr val="0079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09" autoAdjust="0"/>
    <p:restoredTop sz="96366" autoAdjust="0"/>
  </p:normalViewPr>
  <p:slideViewPr>
    <p:cSldViewPr>
      <p:cViewPr varScale="1">
        <p:scale>
          <a:sx n="96" d="100"/>
          <a:sy n="96" d="100"/>
        </p:scale>
        <p:origin x="1272" y="57"/>
      </p:cViewPr>
      <p:guideLst>
        <p:guide orient="horz" pos="2010"/>
        <p:guide pos="2880"/>
      </p:guideLst>
    </p:cSldViewPr>
  </p:slideViewPr>
  <p:outlineViewPr>
    <p:cViewPr>
      <p:scale>
        <a:sx n="30" d="100"/>
        <a:sy n="30" d="100"/>
      </p:scale>
      <p:origin x="0" y="0"/>
    </p:cViewPr>
  </p:outlineViewPr>
  <p:notesTextViewPr>
    <p:cViewPr>
      <p:scale>
        <a:sx n="125" d="100"/>
        <a:sy n="125" d="100"/>
      </p:scale>
      <p:origin x="0" y="0"/>
    </p:cViewPr>
  </p:notesTextViewPr>
  <p:sorterViewPr>
    <p:cViewPr>
      <p:scale>
        <a:sx n="66" d="100"/>
        <a:sy n="66" d="100"/>
      </p:scale>
      <p:origin x="0" y="834"/>
    </p:cViewPr>
  </p:sorterViewPr>
  <p:notesViewPr>
    <p:cSldViewPr>
      <p:cViewPr varScale="1">
        <p:scale>
          <a:sx n="49" d="100"/>
          <a:sy n="49" d="100"/>
        </p:scale>
        <p:origin x="-2748" y="-102"/>
      </p:cViewPr>
      <p:guideLst>
        <p:guide orient="horz" pos="2998"/>
        <p:guide pos="2146"/>
        <p:guide pos="2236"/>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xfrm>
            <a:off x="0" y="0"/>
            <a:ext cx="3077137" cy="512304"/>
          </a:xfrm>
          <a:prstGeom prst="rect">
            <a:avLst/>
          </a:prstGeom>
          <a:noFill/>
          <a:ln w="9525">
            <a:noFill/>
            <a:miter lim="800000"/>
          </a:ln>
          <a:effectLst/>
        </p:spPr>
        <p:txBody>
          <a:bodyPr vert="horz" wrap="square" lIns="94759" tIns="47380" rIns="94759" bIns="47380" numCol="1" anchor="t" anchorCtr="0" compatLnSpc="1"/>
          <a:lstStyle>
            <a:lvl1pPr eaLnBrk="0" hangingPunct="0">
              <a:defRPr sz="1200">
                <a:latin typeface="Arial" panose="020B0604020202020204" pitchFamily="34" charset="0"/>
              </a:defRPr>
            </a:lvl1pPr>
          </a:lstStyle>
          <a:p>
            <a:pPr>
              <a:defRPr/>
            </a:pPr>
            <a:endParaRPr lang="zh-CN" altLang="en-US"/>
          </a:p>
        </p:txBody>
      </p:sp>
      <p:sp>
        <p:nvSpPr>
          <p:cNvPr id="80899" name="Rectangle 3"/>
          <p:cNvSpPr>
            <a:spLocks noGrp="1" noChangeArrowheads="1"/>
          </p:cNvSpPr>
          <p:nvPr>
            <p:ph type="dt" sz="quarter" idx="1"/>
          </p:nvPr>
        </p:nvSpPr>
        <p:spPr bwMode="auto">
          <a:xfrm>
            <a:off x="4022163" y="0"/>
            <a:ext cx="3077137" cy="512304"/>
          </a:xfrm>
          <a:prstGeom prst="rect">
            <a:avLst/>
          </a:prstGeom>
          <a:noFill/>
          <a:ln w="9525">
            <a:noFill/>
            <a:miter lim="800000"/>
          </a:ln>
          <a:effectLst/>
        </p:spPr>
        <p:txBody>
          <a:bodyPr vert="horz" wrap="square" lIns="94759" tIns="47380" rIns="94759" bIns="47380" numCol="1" anchor="t" anchorCtr="0" compatLnSpc="1"/>
          <a:lstStyle>
            <a:lvl1pPr algn="r" eaLnBrk="0" hangingPunct="0">
              <a:defRPr sz="1200">
                <a:latin typeface="Arial" panose="020B0604020202020204" pitchFamily="34" charset="0"/>
              </a:defRPr>
            </a:lvl1pPr>
          </a:lstStyle>
          <a:p>
            <a:pPr>
              <a:defRPr/>
            </a:pPr>
            <a:fld id="{1A7506B3-F1CA-45A6-AE04-521B16B33511}" type="datetimeFigureOut">
              <a:rPr lang="zh-CN" altLang="en-US"/>
              <a:t>2026/3/24</a:t>
            </a:fld>
            <a:endParaRPr lang="zh-CN" altLang="en-US"/>
          </a:p>
        </p:txBody>
      </p:sp>
      <p:sp>
        <p:nvSpPr>
          <p:cNvPr id="80900" name="Rectangle 4"/>
          <p:cNvSpPr>
            <a:spLocks noGrp="1" noChangeArrowheads="1"/>
          </p:cNvSpPr>
          <p:nvPr>
            <p:ph type="ftr" sz="quarter" idx="2"/>
          </p:nvPr>
        </p:nvSpPr>
        <p:spPr bwMode="auto">
          <a:xfrm>
            <a:off x="0" y="9722310"/>
            <a:ext cx="3077137" cy="512304"/>
          </a:xfrm>
          <a:prstGeom prst="rect">
            <a:avLst/>
          </a:prstGeom>
          <a:noFill/>
          <a:ln w="9525">
            <a:noFill/>
            <a:miter lim="800000"/>
          </a:ln>
          <a:effectLst/>
        </p:spPr>
        <p:txBody>
          <a:bodyPr vert="horz" wrap="square" lIns="94759" tIns="47380" rIns="94759" bIns="47380" numCol="1" anchor="b" anchorCtr="0" compatLnSpc="1"/>
          <a:lstStyle>
            <a:lvl1pPr eaLnBrk="0" hangingPunct="0">
              <a:defRPr sz="1200">
                <a:latin typeface="Arial" panose="020B0604020202020204" pitchFamily="34" charset="0"/>
              </a:defRPr>
            </a:lvl1pPr>
          </a:lstStyle>
          <a:p>
            <a:pPr>
              <a:defRPr/>
            </a:pPr>
            <a:endParaRPr lang="zh-CN" altLang="en-US"/>
          </a:p>
        </p:txBody>
      </p:sp>
      <p:sp>
        <p:nvSpPr>
          <p:cNvPr id="80901" name="Rectangle 5"/>
          <p:cNvSpPr>
            <a:spLocks noGrp="1" noChangeArrowheads="1"/>
          </p:cNvSpPr>
          <p:nvPr>
            <p:ph type="sldNum" sz="quarter" idx="3"/>
          </p:nvPr>
        </p:nvSpPr>
        <p:spPr bwMode="auto">
          <a:xfrm>
            <a:off x="4022163" y="9722310"/>
            <a:ext cx="3077137" cy="512304"/>
          </a:xfrm>
          <a:prstGeom prst="rect">
            <a:avLst/>
          </a:prstGeom>
          <a:noFill/>
          <a:ln w="9525">
            <a:noFill/>
            <a:miter lim="800000"/>
          </a:ln>
          <a:effectLst/>
        </p:spPr>
        <p:txBody>
          <a:bodyPr vert="horz" wrap="square" lIns="94759" tIns="47380" rIns="94759" bIns="47380" numCol="1" anchor="b" anchorCtr="0" compatLnSpc="1"/>
          <a:lstStyle>
            <a:lvl1pPr algn="r">
              <a:defRPr sz="1200"/>
            </a:lvl1pPr>
          </a:lstStyle>
          <a:p>
            <a:pPr>
              <a:defRPr/>
            </a:pPr>
            <a:fld id="{2F924B69-7477-47C3-98A1-5F04082F6432}"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7137" cy="512304"/>
          </a:xfrm>
          <a:prstGeom prst="rect">
            <a:avLst/>
          </a:prstGeom>
          <a:noFill/>
          <a:ln w="9525">
            <a:noFill/>
            <a:miter lim="800000"/>
          </a:ln>
          <a:effectLst/>
        </p:spPr>
        <p:txBody>
          <a:bodyPr vert="horz" wrap="square" lIns="94759" tIns="47380" rIns="94759" bIns="47380" numCol="1" anchor="t"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4035" name="Rectangle 3"/>
          <p:cNvSpPr>
            <a:spLocks noGrp="1" noChangeArrowheads="1"/>
          </p:cNvSpPr>
          <p:nvPr>
            <p:ph type="dt" idx="1"/>
          </p:nvPr>
        </p:nvSpPr>
        <p:spPr bwMode="auto">
          <a:xfrm>
            <a:off x="4022163" y="0"/>
            <a:ext cx="3077137" cy="512304"/>
          </a:xfrm>
          <a:prstGeom prst="rect">
            <a:avLst/>
          </a:prstGeom>
          <a:noFill/>
          <a:ln w="9525">
            <a:noFill/>
            <a:miter lim="800000"/>
          </a:ln>
          <a:effectLst/>
        </p:spPr>
        <p:txBody>
          <a:bodyPr vert="horz" wrap="square" lIns="94759" tIns="47380" rIns="94759" bIns="47380" numCol="1" anchor="t" anchorCtr="0" compatLnSpc="1"/>
          <a:lstStyle>
            <a:lvl1pPr algn="r" eaLnBrk="1" hangingPunct="1">
              <a:defRPr kumimoji="1" sz="1200">
                <a:latin typeface="Times New Roman" panose="02020603050405020304" pitchFamily="18" charset="0"/>
              </a:defRPr>
            </a:lvl1pPr>
          </a:lstStyle>
          <a:p>
            <a:pPr>
              <a:defRPr/>
            </a:pPr>
            <a:endParaRPr lang="en-US" altLang="zh-CN"/>
          </a:p>
        </p:txBody>
      </p:sp>
      <p:sp>
        <p:nvSpPr>
          <p:cNvPr id="4301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p:spPr>
      </p:sp>
      <p:sp>
        <p:nvSpPr>
          <p:cNvPr id="44037" name="Rectangle 5"/>
          <p:cNvSpPr>
            <a:spLocks noGrp="1" noChangeArrowheads="1"/>
          </p:cNvSpPr>
          <p:nvPr>
            <p:ph type="body" sz="quarter" idx="3"/>
          </p:nvPr>
        </p:nvSpPr>
        <p:spPr bwMode="auto">
          <a:xfrm>
            <a:off x="946685" y="4861155"/>
            <a:ext cx="5205932" cy="4605821"/>
          </a:xfrm>
          <a:prstGeom prst="rect">
            <a:avLst/>
          </a:prstGeom>
          <a:noFill/>
          <a:ln w="9525">
            <a:noFill/>
            <a:miter lim="800000"/>
          </a:ln>
          <a:effectLst/>
        </p:spPr>
        <p:txBody>
          <a:bodyPr vert="horz" wrap="square" lIns="94759" tIns="47380" rIns="94759" bIns="4738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4038" name="Rectangle 6"/>
          <p:cNvSpPr>
            <a:spLocks noGrp="1" noChangeArrowheads="1"/>
          </p:cNvSpPr>
          <p:nvPr>
            <p:ph type="ftr" sz="quarter" idx="4"/>
          </p:nvPr>
        </p:nvSpPr>
        <p:spPr bwMode="auto">
          <a:xfrm>
            <a:off x="0" y="9722310"/>
            <a:ext cx="3077137" cy="512304"/>
          </a:xfrm>
          <a:prstGeom prst="rect">
            <a:avLst/>
          </a:prstGeom>
          <a:noFill/>
          <a:ln w="9525">
            <a:noFill/>
            <a:miter lim="800000"/>
          </a:ln>
          <a:effectLst/>
        </p:spPr>
        <p:txBody>
          <a:bodyPr vert="horz" wrap="square" lIns="94759" tIns="47380" rIns="94759" bIns="47380" numCol="1" anchor="b" anchorCtr="0" compatLnSpc="1"/>
          <a:lstStyle>
            <a:lvl1pPr eaLnBrk="1" hangingPunct="1">
              <a:defRPr kumimoji="1" sz="1200">
                <a:latin typeface="Times New Roman" panose="02020603050405020304" pitchFamily="18" charset="0"/>
              </a:defRPr>
            </a:lvl1pPr>
          </a:lstStyle>
          <a:p>
            <a:pPr>
              <a:defRPr/>
            </a:pPr>
            <a:endParaRPr lang="en-US" altLang="zh-CN"/>
          </a:p>
        </p:txBody>
      </p:sp>
      <p:sp>
        <p:nvSpPr>
          <p:cNvPr id="44039" name="Rectangle 7"/>
          <p:cNvSpPr>
            <a:spLocks noGrp="1" noChangeArrowheads="1"/>
          </p:cNvSpPr>
          <p:nvPr>
            <p:ph type="sldNum" sz="quarter" idx="5"/>
          </p:nvPr>
        </p:nvSpPr>
        <p:spPr bwMode="auto">
          <a:xfrm>
            <a:off x="4022163" y="9722310"/>
            <a:ext cx="3077137" cy="512304"/>
          </a:xfrm>
          <a:prstGeom prst="rect">
            <a:avLst/>
          </a:prstGeom>
          <a:noFill/>
          <a:ln w="9525">
            <a:noFill/>
            <a:miter lim="800000"/>
          </a:ln>
          <a:effectLst/>
        </p:spPr>
        <p:txBody>
          <a:bodyPr vert="horz" wrap="square" lIns="94759" tIns="47380" rIns="94759" bIns="47380" numCol="1" anchor="b" anchorCtr="0" compatLnSpc="1"/>
          <a:lstStyle>
            <a:lvl1pPr algn="r" eaLnBrk="1" hangingPunct="1">
              <a:defRPr kumimoji="1" sz="1200">
                <a:latin typeface="Times New Roman" panose="02020603050405020304" pitchFamily="18" charset="0"/>
              </a:defRPr>
            </a:lvl1pPr>
          </a:lstStyle>
          <a:p>
            <a:pPr>
              <a:defRPr/>
            </a:pPr>
            <a:fld id="{3A63EC05-C179-4F8B-A64D-C5A208BE0F60}" type="slidenum">
              <a:rPr lang="en-US" altLang="zh-CN"/>
              <a:t>‹#›</a:t>
            </a:fld>
            <a:endParaRPr lang="en-US" altLang="zh-CN"/>
          </a:p>
        </p:txBody>
      </p:sp>
    </p:spTree>
    <p:extLst>
      <p:ext uri="{BB962C8B-B14F-4D97-AF65-F5344CB8AC3E}">
        <p14:creationId xmlns:p14="http://schemas.microsoft.com/office/powerpoint/2010/main" val="27636049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3147-373B-6A50-8A7C-6D0CAABF68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8D9A72-417B-234E-3B73-AE03D90068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803CE6-55BC-52AE-A03E-F675319E531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8861AF5-6956-C230-F113-BB6A0C92B1EC}"/>
              </a:ext>
            </a:extLst>
          </p:cNvPr>
          <p:cNvSpPr>
            <a:spLocks noGrp="1"/>
          </p:cNvSpPr>
          <p:nvPr>
            <p:ph type="sldNum" sz="quarter" idx="10"/>
          </p:nvPr>
        </p:nvSpPr>
        <p:spPr/>
        <p:txBody>
          <a:bodyPr/>
          <a:lstStyle/>
          <a:p>
            <a:pPr>
              <a:defRPr/>
            </a:pPr>
            <a:fld id="{3A63EC05-C179-4F8B-A64D-C5A208BE0F60}" type="slidenum">
              <a:rPr lang="en-US" altLang="zh-CN" smtClean="0"/>
              <a:t>5</a:t>
            </a:fld>
            <a:endParaRPr lang="en-US" altLang="zh-CN"/>
          </a:p>
        </p:txBody>
      </p:sp>
    </p:spTree>
    <p:extLst>
      <p:ext uri="{BB962C8B-B14F-4D97-AF65-F5344CB8AC3E}">
        <p14:creationId xmlns:p14="http://schemas.microsoft.com/office/powerpoint/2010/main" val="93927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6</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7</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8C08-82FF-8BF5-9C73-C9BAF4EF9B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50F735-3243-E9FB-9384-20D6DF1585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DCE17A-14DE-08D4-53CD-C8A007F147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DBC8383-5D14-9E3A-DDF9-676F0C17D5E0}"/>
              </a:ext>
            </a:extLst>
          </p:cNvPr>
          <p:cNvSpPr>
            <a:spLocks noGrp="1"/>
          </p:cNvSpPr>
          <p:nvPr>
            <p:ph type="sldNum" sz="quarter" idx="10"/>
          </p:nvPr>
        </p:nvSpPr>
        <p:spPr/>
        <p:txBody>
          <a:bodyPr/>
          <a:lstStyle/>
          <a:p>
            <a:pPr>
              <a:defRPr/>
            </a:pPr>
            <a:fld id="{3A63EC05-C179-4F8B-A64D-C5A208BE0F60}" type="slidenum">
              <a:rPr lang="en-US" altLang="zh-CN" smtClean="0"/>
              <a:t>8</a:t>
            </a:fld>
            <a:endParaRPr lang="en-US" altLang="zh-CN"/>
          </a:p>
        </p:txBody>
      </p:sp>
    </p:spTree>
    <p:extLst>
      <p:ext uri="{BB962C8B-B14F-4D97-AF65-F5344CB8AC3E}">
        <p14:creationId xmlns:p14="http://schemas.microsoft.com/office/powerpoint/2010/main" val="107509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9</a:t>
            </a:fld>
            <a:endParaRPr lang="en-US" altLang="zh-CN"/>
          </a:p>
        </p:txBody>
      </p:sp>
    </p:spTree>
    <p:extLst>
      <p:ext uri="{BB962C8B-B14F-4D97-AF65-F5344CB8AC3E}">
        <p14:creationId xmlns:p14="http://schemas.microsoft.com/office/powerpoint/2010/main" val="1596471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10</a:t>
            </a:fld>
            <a:endParaRPr lang="en-US" altLang="zh-CN"/>
          </a:p>
        </p:txBody>
      </p:sp>
    </p:spTree>
    <p:extLst>
      <p:ext uri="{BB962C8B-B14F-4D97-AF65-F5344CB8AC3E}">
        <p14:creationId xmlns:p14="http://schemas.microsoft.com/office/powerpoint/2010/main" val="2440504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11</a:t>
            </a:fld>
            <a:endParaRPr lang="en-US" altLang="zh-CN"/>
          </a:p>
        </p:txBody>
      </p:sp>
    </p:spTree>
    <p:extLst>
      <p:ext uri="{BB962C8B-B14F-4D97-AF65-F5344CB8AC3E}">
        <p14:creationId xmlns:p14="http://schemas.microsoft.com/office/powerpoint/2010/main" val="2236253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CD54-CEDA-D3B5-7A57-E38E447998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AE87BD-9606-F905-73F9-EED4C23F8A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9F4A0F-3E10-70C9-492D-4CB02395B2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0740380-5554-4FEC-6C97-6CF400B68487}"/>
              </a:ext>
            </a:extLst>
          </p:cNvPr>
          <p:cNvSpPr>
            <a:spLocks noGrp="1"/>
          </p:cNvSpPr>
          <p:nvPr>
            <p:ph type="sldNum" sz="quarter" idx="10"/>
          </p:nvPr>
        </p:nvSpPr>
        <p:spPr/>
        <p:txBody>
          <a:bodyPr/>
          <a:lstStyle/>
          <a:p>
            <a:pPr>
              <a:defRPr/>
            </a:pPr>
            <a:fld id="{3A63EC05-C179-4F8B-A64D-C5A208BE0F60}" type="slidenum">
              <a:rPr lang="en-US" altLang="zh-CN" smtClean="0"/>
              <a:t>12</a:t>
            </a:fld>
            <a:endParaRPr lang="en-US" altLang="zh-CN"/>
          </a:p>
        </p:txBody>
      </p:sp>
    </p:spTree>
    <p:extLst>
      <p:ext uri="{BB962C8B-B14F-4D97-AF65-F5344CB8AC3E}">
        <p14:creationId xmlns:p14="http://schemas.microsoft.com/office/powerpoint/2010/main" val="406094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13</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14</a:t>
            </a:fld>
            <a:endParaRPr lang="en-US" altLang="zh-CN"/>
          </a:p>
        </p:txBody>
      </p:sp>
    </p:spTree>
    <p:extLst>
      <p:ext uri="{BB962C8B-B14F-4D97-AF65-F5344CB8AC3E}">
        <p14:creationId xmlns:p14="http://schemas.microsoft.com/office/powerpoint/2010/main" val="4198033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D667-30D0-C914-F571-86E764A6E9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BEBF54-62C8-4932-7B43-68CECCBE2C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1333CBC-E41C-40D2-D8A5-2E7F750693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F3323E2-4B64-6BFD-031C-4CFEFD1EAA3D}"/>
              </a:ext>
            </a:extLst>
          </p:cNvPr>
          <p:cNvSpPr>
            <a:spLocks noGrp="1"/>
          </p:cNvSpPr>
          <p:nvPr>
            <p:ph type="sldNum" sz="quarter" idx="10"/>
          </p:nvPr>
        </p:nvSpPr>
        <p:spPr/>
        <p:txBody>
          <a:bodyPr/>
          <a:lstStyle/>
          <a:p>
            <a:pPr>
              <a:defRPr/>
            </a:pPr>
            <a:fld id="{3A63EC05-C179-4F8B-A64D-C5A208BE0F60}" type="slidenum">
              <a:rPr lang="en-US" altLang="zh-CN" smtClean="0"/>
              <a:t>15</a:t>
            </a:fld>
            <a:endParaRPr lang="en-US" altLang="zh-CN"/>
          </a:p>
        </p:txBody>
      </p:sp>
    </p:spTree>
    <p:extLst>
      <p:ext uri="{BB962C8B-B14F-4D97-AF65-F5344CB8AC3E}">
        <p14:creationId xmlns:p14="http://schemas.microsoft.com/office/powerpoint/2010/main" val="2228612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16</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17</a:t>
            </a:fld>
            <a:endParaRPr lang="en-US" altLang="zh-CN"/>
          </a:p>
        </p:txBody>
      </p:sp>
    </p:spTree>
    <p:extLst>
      <p:ext uri="{BB962C8B-B14F-4D97-AF65-F5344CB8AC3E}">
        <p14:creationId xmlns:p14="http://schemas.microsoft.com/office/powerpoint/2010/main" val="1030518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4851C-5166-118B-325C-892D269722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A5B487-F3DA-BCC1-1DE7-E93E955BF4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F80A82A-0E96-7150-3734-AEE740FCCF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7EA7657-A96B-D623-6714-C842D17C6F57}"/>
              </a:ext>
            </a:extLst>
          </p:cNvPr>
          <p:cNvSpPr>
            <a:spLocks noGrp="1"/>
          </p:cNvSpPr>
          <p:nvPr>
            <p:ph type="sldNum" sz="quarter" idx="10"/>
          </p:nvPr>
        </p:nvSpPr>
        <p:spPr/>
        <p:txBody>
          <a:bodyPr/>
          <a:lstStyle/>
          <a:p>
            <a:pPr>
              <a:defRPr/>
            </a:pPr>
            <a:fld id="{3A63EC05-C179-4F8B-A64D-C5A208BE0F60}" type="slidenum">
              <a:rPr lang="en-US" altLang="zh-CN" smtClean="0"/>
              <a:t>18</a:t>
            </a:fld>
            <a:endParaRPr lang="en-US" altLang="zh-CN"/>
          </a:p>
        </p:txBody>
      </p:sp>
    </p:spTree>
    <p:extLst>
      <p:ext uri="{BB962C8B-B14F-4D97-AF65-F5344CB8AC3E}">
        <p14:creationId xmlns:p14="http://schemas.microsoft.com/office/powerpoint/2010/main" val="1534364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19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20</a:t>
            </a:fld>
            <a:endParaRPr lang="en-US" altLang="zh-CN"/>
          </a:p>
        </p:txBody>
      </p:sp>
    </p:spTree>
    <p:extLst>
      <p:ext uri="{BB962C8B-B14F-4D97-AF65-F5344CB8AC3E}">
        <p14:creationId xmlns:p14="http://schemas.microsoft.com/office/powerpoint/2010/main" val="21291369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A63EC05-C179-4F8B-A64D-C5A208BE0F60}" type="slidenum">
              <a:rPr lang="en-US" altLang="zh-CN" smtClean="0"/>
              <a:t>21</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86"/>
            <a:ext cx="9144000" cy="6853431"/>
          </a:xfrm>
          <a:prstGeom prst="rect">
            <a:avLst/>
          </a:prstGeom>
        </p:spPr>
      </p:pic>
      <p:sp>
        <p:nvSpPr>
          <p:cNvPr id="8" name="文本框 7"/>
          <p:cNvSpPr txBox="1"/>
          <p:nvPr userDrawn="1"/>
        </p:nvSpPr>
        <p:spPr>
          <a:xfrm>
            <a:off x="2758440" y="6273800"/>
            <a:ext cx="3672800" cy="338554"/>
          </a:xfrm>
          <a:prstGeom prst="rect">
            <a:avLst/>
          </a:prstGeom>
          <a:noFill/>
        </p:spPr>
        <p:txBody>
          <a:bodyPr wrap="none" rtlCol="0">
            <a:spAutoFit/>
          </a:bodyPr>
          <a:lstStyle/>
          <a:p>
            <a:r>
              <a:rPr lang="zh-CN" altLang="en-US" sz="1600" dirty="0">
                <a:solidFill>
                  <a:schemeClr val="tx1">
                    <a:lumMod val="75000"/>
                    <a:lumOff val="25000"/>
                  </a:schemeClr>
                </a:solidFill>
                <a:latin typeface="汉仪粗宋简" panose="02010604000101010101" charset="-122"/>
                <a:ea typeface="汉仪粗宋简" panose="02010604000101010101" charset="-122"/>
              </a:rPr>
              <a:t>机械工业仪器仪表综合技术经济研究所</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两栏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 y="0"/>
            <a:ext cx="9141970" cy="6858000"/>
          </a:xfrm>
          <a:prstGeom prst="rect">
            <a:avLst/>
          </a:prstGeom>
        </p:spPr>
      </p:pic>
      <p:sp>
        <p:nvSpPr>
          <p:cNvPr id="9" name="文本框 15"/>
          <p:cNvSpPr txBox="1"/>
          <p:nvPr userDrawn="1"/>
        </p:nvSpPr>
        <p:spPr>
          <a:xfrm>
            <a:off x="2979427" y="6457321"/>
            <a:ext cx="3236784" cy="307777"/>
          </a:xfrm>
          <a:prstGeom prst="rect">
            <a:avLst/>
          </a:prstGeom>
          <a:noFill/>
        </p:spPr>
        <p:txBody>
          <a:bodyPr wrap="none" rtlCol="0">
            <a:spAutoFit/>
          </a:bodyPr>
          <a:lstStyle/>
          <a:p>
            <a:r>
              <a:rPr lang="zh-CN" altLang="en-US" sz="1400" dirty="0">
                <a:solidFill>
                  <a:schemeClr val="bg1"/>
                </a:solidFill>
                <a:latin typeface="汉仪粗宋简" panose="02010604000101010101" charset="-122"/>
                <a:ea typeface="汉仪粗宋简" panose="02010604000101010101" charset="-122"/>
              </a:rPr>
              <a:t>机械工业仪器仪表综合技术经济研究所</a:t>
            </a:r>
          </a:p>
        </p:txBody>
      </p:sp>
      <p:sp>
        <p:nvSpPr>
          <p:cNvPr id="11" name="标题 1"/>
          <p:cNvSpPr>
            <a:spLocks noGrp="1"/>
          </p:cNvSpPr>
          <p:nvPr>
            <p:ph type="title"/>
          </p:nvPr>
        </p:nvSpPr>
        <p:spPr>
          <a:xfrm>
            <a:off x="3533115" y="321664"/>
            <a:ext cx="3262432" cy="400110"/>
          </a:xfrm>
          <a:prstGeom prst="rect">
            <a:avLst/>
          </a:prstGeom>
          <a:noFill/>
        </p:spPr>
        <p:txBody>
          <a:bodyPr wrap="none" rtlCol="0">
            <a:spAutoFit/>
          </a:bodyPr>
          <a:lstStyle>
            <a:lvl1pPr>
              <a:defRPr lang="zh-CN" altLang="en-US" sz="2000" kern="1200" dirty="0">
                <a:solidFill>
                  <a:schemeClr val="bg1"/>
                </a:solidFill>
                <a:latin typeface="微软雅黑" panose="020B0503020204020204" charset="-122"/>
                <a:ea typeface="微软雅黑" panose="020B0503020204020204" charset="-122"/>
                <a:cs typeface="+mn-cs"/>
              </a:defRPr>
            </a:lvl1pPr>
          </a:lstStyle>
          <a:p>
            <a:pPr lvl="0" algn="l"/>
            <a:r>
              <a:rPr lang="zh-CN" altLang="en-US" dirty="0"/>
              <a:t>单击此处编辑母版标题样式</a:t>
            </a:r>
          </a:p>
        </p:txBody>
      </p:sp>
      <p:sp>
        <p:nvSpPr>
          <p:cNvPr id="6" name="灯片编号占位符 6"/>
          <p:cNvSpPr txBox="1"/>
          <p:nvPr userDrawn="1"/>
        </p:nvSpPr>
        <p:spPr bwMode="auto">
          <a:xfrm rot="19719444">
            <a:off x="8287793" y="6412705"/>
            <a:ext cx="388248" cy="276999"/>
          </a:xfrm>
          <a:prstGeom prst="rect">
            <a:avLst/>
          </a:prstGeom>
          <a:noFill/>
          <a:ln>
            <a:miter lim="800000"/>
          </a:ln>
        </p:spPr>
        <p:txBody>
          <a:bodyPr vert="horz" wrap="none" lIns="91440" tIns="45720" rIns="91440" bIns="45720" numCol="1" rtlCol="0" anchor="t" anchorCtr="0" compatLnSpc="1">
            <a:spAutoFit/>
          </a:bodyPr>
          <a:lstStyle>
            <a:defPPr>
              <a:defRPr lang="zh-CN"/>
            </a:defPPr>
            <a:lvl1pPr algn="r" rtl="0" eaLnBrk="1" fontAlgn="base" hangingPunct="1">
              <a:spcBef>
                <a:spcPct val="0"/>
              </a:spcBef>
              <a:spcAft>
                <a:spcPct val="0"/>
              </a:spcAft>
              <a:defRPr kumimoji="1" lang="zh-CN" altLang="en-US" sz="1200" kern="1200" smtClean="0">
                <a:solidFill>
                  <a:srgbClr val="044470"/>
                </a:solidFill>
                <a:latin typeface="微软雅黑" panose="020B0503020204020204" charset="-122"/>
                <a:ea typeface="微软雅黑" panose="020B050302020402020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eaLnBrk="0" hangingPunct="0"/>
            <a:fld id="{7D9BB5D0-35E4-459D-AEF3-FE4D7C45CC19}" type="slidenum">
              <a:rPr lang="en-US" altLang="zh-CN" smtClean="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 y="0"/>
            <a:ext cx="9141970" cy="6858000"/>
          </a:xfrm>
          <a:prstGeom prst="rect">
            <a:avLst/>
          </a:prstGeom>
        </p:spPr>
      </p:pic>
      <p:sp>
        <p:nvSpPr>
          <p:cNvPr id="7" name="文本框 15"/>
          <p:cNvSpPr txBox="1"/>
          <p:nvPr userDrawn="1"/>
        </p:nvSpPr>
        <p:spPr>
          <a:xfrm>
            <a:off x="2979427" y="6457321"/>
            <a:ext cx="3236784" cy="307777"/>
          </a:xfrm>
          <a:prstGeom prst="rect">
            <a:avLst/>
          </a:prstGeom>
          <a:noFill/>
        </p:spPr>
        <p:txBody>
          <a:bodyPr wrap="none" rtlCol="0">
            <a:spAutoFit/>
          </a:bodyPr>
          <a:lstStyle/>
          <a:p>
            <a:r>
              <a:rPr lang="zh-CN" altLang="en-US" sz="1400" dirty="0">
                <a:solidFill>
                  <a:schemeClr val="bg1"/>
                </a:solidFill>
                <a:latin typeface="汉仪粗宋简" panose="02010604000101010101" charset="-122"/>
                <a:ea typeface="汉仪粗宋简" panose="02010604000101010101" charset="-122"/>
              </a:rPr>
              <a:t>机械工业仪器仪表综合技术经济研究所</a:t>
            </a:r>
          </a:p>
        </p:txBody>
      </p:sp>
      <p:sp>
        <p:nvSpPr>
          <p:cNvPr id="8" name="灯片编号占位符 6"/>
          <p:cNvSpPr txBox="1"/>
          <p:nvPr userDrawn="1"/>
        </p:nvSpPr>
        <p:spPr bwMode="auto">
          <a:xfrm rot="19719444">
            <a:off x="8287793" y="6412705"/>
            <a:ext cx="388248" cy="276999"/>
          </a:xfrm>
          <a:prstGeom prst="rect">
            <a:avLst/>
          </a:prstGeom>
          <a:noFill/>
          <a:ln>
            <a:miter lim="800000"/>
          </a:ln>
        </p:spPr>
        <p:txBody>
          <a:bodyPr vert="horz" wrap="none" lIns="91440" tIns="45720" rIns="91440" bIns="45720" numCol="1" rtlCol="0" anchor="t" anchorCtr="0" compatLnSpc="1">
            <a:spAutoFit/>
          </a:bodyPr>
          <a:lstStyle>
            <a:defPPr>
              <a:defRPr lang="zh-CN"/>
            </a:defPPr>
            <a:lvl1pPr algn="r" rtl="0" eaLnBrk="1" fontAlgn="base" hangingPunct="1">
              <a:spcBef>
                <a:spcPct val="0"/>
              </a:spcBef>
              <a:spcAft>
                <a:spcPct val="0"/>
              </a:spcAft>
              <a:defRPr kumimoji="1" lang="zh-CN" altLang="en-US" sz="1200" kern="1200" smtClean="0">
                <a:solidFill>
                  <a:srgbClr val="044470"/>
                </a:solidFill>
                <a:latin typeface="微软雅黑" panose="020B0503020204020204" charset="-122"/>
                <a:ea typeface="微软雅黑" panose="020B0503020204020204"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lgn="l" eaLnBrk="0" hangingPunct="0"/>
            <a:fld id="{7D9BB5D0-35E4-459D-AEF3-FE4D7C45CC19}" type="slidenum">
              <a:rPr lang="en-US" altLang="zh-CN" smtClean="0"/>
              <a:t>‹#›</a:t>
            </a:fld>
            <a:endParaRPr lang="en-US" altLang="zh-CN" dirty="0"/>
          </a:p>
        </p:txBody>
      </p:sp>
      <p:sp>
        <p:nvSpPr>
          <p:cNvPr id="9" name="标题 1"/>
          <p:cNvSpPr>
            <a:spLocks noGrp="1"/>
          </p:cNvSpPr>
          <p:nvPr>
            <p:ph type="title"/>
          </p:nvPr>
        </p:nvSpPr>
        <p:spPr>
          <a:xfrm>
            <a:off x="3533115" y="321664"/>
            <a:ext cx="3262432" cy="400110"/>
          </a:xfrm>
          <a:prstGeom prst="rect">
            <a:avLst/>
          </a:prstGeom>
          <a:noFill/>
        </p:spPr>
        <p:txBody>
          <a:bodyPr wrap="none" rtlCol="0">
            <a:spAutoFit/>
          </a:bodyPr>
          <a:lstStyle>
            <a:lvl1pPr>
              <a:defRPr lang="zh-CN" altLang="en-US" sz="2000" kern="1200" dirty="0">
                <a:solidFill>
                  <a:schemeClr val="bg1"/>
                </a:solidFill>
                <a:latin typeface="微软雅黑" panose="020B0503020204020204" charset="-122"/>
                <a:ea typeface="微软雅黑" panose="020B0503020204020204" charset="-122"/>
                <a:cs typeface="+mn-cs"/>
              </a:defRPr>
            </a:lvl1pPr>
          </a:lstStyle>
          <a:p>
            <a:pPr lvl="0" algn="l"/>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4"/>
          <p:cNvSpPr>
            <a:spLocks noGrp="1" noChangeArrowheads="1"/>
          </p:cNvSpPr>
          <p:nvPr>
            <p:ph type="dt" sz="half" idx="2"/>
          </p:nvPr>
        </p:nvSpPr>
        <p:spPr bwMode="auto">
          <a:xfrm>
            <a:off x="633413" y="6500813"/>
            <a:ext cx="1905000" cy="457200"/>
          </a:xfrm>
          <a:prstGeom prst="rect">
            <a:avLst/>
          </a:prstGeom>
          <a:ln>
            <a:miter lim="800000"/>
          </a:ln>
        </p:spPr>
        <p:txBody>
          <a:bodyPr vert="horz" wrap="square" lIns="91440" tIns="45720" rIns="91440" bIns="45720" numCol="1" anchor="t" anchorCtr="0" compatLnSpc="1"/>
          <a:lstStyle>
            <a:lvl1pPr eaLnBrk="1" hangingPunct="1">
              <a:defRPr kumimoji="1" sz="1400">
                <a:solidFill>
                  <a:schemeClr val="bg1"/>
                </a:solidFill>
                <a:latin typeface="黑体" panose="02010609060101010101" pitchFamily="2" charset="-122"/>
                <a:ea typeface="黑体" panose="02010609060101010101" pitchFamily="2" charset="-122"/>
              </a:defRPr>
            </a:lvl1pPr>
          </a:lstStyle>
          <a:p>
            <a:pPr>
              <a:defRPr/>
            </a:pPr>
            <a:fld id="{698373BF-69A2-40B6-A48C-FAC6293C9BFA}" type="datetime1">
              <a:rPr lang="zh-CN" altLang="en-US" smtClean="0"/>
              <a:t>2026/3/24</a:t>
            </a:fld>
            <a:endParaRPr lang="en-US" altLang="zh-CN"/>
          </a:p>
        </p:txBody>
      </p:sp>
      <p:sp>
        <p:nvSpPr>
          <p:cNvPr id="7" name="Rectangle 5"/>
          <p:cNvSpPr>
            <a:spLocks noGrp="1" noChangeArrowheads="1"/>
          </p:cNvSpPr>
          <p:nvPr>
            <p:ph type="ftr" sz="quarter" idx="3"/>
          </p:nvPr>
        </p:nvSpPr>
        <p:spPr>
          <a:xfrm>
            <a:off x="3124200" y="6191251"/>
            <a:ext cx="2895600" cy="457200"/>
          </a:xfrm>
          <a:prstGeom prst="rect">
            <a:avLst/>
          </a:prstGeom>
        </p:spPr>
        <p:txBody>
          <a:bodyPr/>
          <a:lstStyle>
            <a:lvl1pPr eaLnBrk="0" hangingPunct="0">
              <a:defRPr>
                <a:latin typeface="Arial" panose="020B0604020202020204" pitchFamily="34" charset="0"/>
              </a:defRPr>
            </a:lvl1pPr>
          </a:lstStyle>
          <a:p>
            <a:pPr>
              <a:defRPr/>
            </a:pPr>
            <a:endParaRPr lang="zh-CN" altLang="en-US"/>
          </a:p>
        </p:txBody>
      </p:sp>
      <p:sp>
        <p:nvSpPr>
          <p:cNvPr id="8" name="Rectangle 6"/>
          <p:cNvSpPr>
            <a:spLocks noGrp="1" noChangeArrowheads="1"/>
          </p:cNvSpPr>
          <p:nvPr>
            <p:ph type="sldNum" sz="quarter" idx="4"/>
          </p:nvPr>
        </p:nvSpPr>
        <p:spPr bwMode="auto">
          <a:xfrm>
            <a:off x="6500813" y="6500813"/>
            <a:ext cx="1905000" cy="457200"/>
          </a:xfrm>
          <a:prstGeom prst="rect">
            <a:avLst/>
          </a:prstGeom>
          <a:ln>
            <a:miter lim="800000"/>
          </a:ln>
        </p:spPr>
        <p:txBody>
          <a:bodyPr vert="horz" wrap="square" lIns="91440" tIns="45720" rIns="91440" bIns="45720" numCol="1" anchor="t" anchorCtr="0" compatLnSpc="1"/>
          <a:lstStyle>
            <a:lvl1pPr algn="r" eaLnBrk="1" hangingPunct="1">
              <a:defRPr kumimoji="1" sz="1400">
                <a:solidFill>
                  <a:schemeClr val="bg1"/>
                </a:solidFill>
                <a:latin typeface="黑体" panose="02010609060101010101" pitchFamily="2" charset="-122"/>
                <a:ea typeface="黑体" panose="02010609060101010101" pitchFamily="2" charset="-122"/>
              </a:defRPr>
            </a:lvl1pPr>
          </a:lstStyle>
          <a:p>
            <a:pPr>
              <a:defRPr/>
            </a:pPr>
            <a:fld id="{86C6BD19-7E0E-40D4-8CC4-23ECFCC87181}"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4400">
          <a:solidFill>
            <a:schemeClr val="tx2"/>
          </a:solidFill>
          <a:latin typeface="Arial" panose="020B0604020202020204" pitchFamily="34" charset="0"/>
          <a:ea typeface="+mj-ea"/>
          <a:cs typeface="+mj-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Arial" panose="020B0604020202020204" pitchFamily="34" charset="0"/>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Arial" panose="020B0604020202020204" pitchFamily="34" charset="0"/>
          <a:ea typeface="+mn-ea"/>
        </a:defRPr>
      </a:lvl2pPr>
      <a:lvl3pPr marL="1143000" indent="-228600" algn="l" rtl="0" eaLnBrk="0" fontAlgn="base" hangingPunct="0">
        <a:spcBef>
          <a:spcPct val="20000"/>
        </a:spcBef>
        <a:spcAft>
          <a:spcPct val="0"/>
        </a:spcAft>
        <a:buChar char="•"/>
        <a:defRPr kumimoji="1" sz="2400">
          <a:solidFill>
            <a:schemeClr val="tx1"/>
          </a:solidFill>
          <a:latin typeface="Arial" panose="020B0604020202020204" pitchFamily="34" charset="0"/>
          <a:ea typeface="+mn-ea"/>
        </a:defRPr>
      </a:lvl3pPr>
      <a:lvl4pPr marL="1600200" indent="-228600" algn="l" rtl="0" eaLnBrk="0" fontAlgn="base" hangingPunct="0">
        <a:spcBef>
          <a:spcPct val="20000"/>
        </a:spcBef>
        <a:spcAft>
          <a:spcPct val="0"/>
        </a:spcAft>
        <a:buChar char="–"/>
        <a:defRPr kumimoji="1" sz="2000">
          <a:solidFill>
            <a:schemeClr val="tx1"/>
          </a:solidFill>
          <a:latin typeface="Arial" panose="020B0604020202020204" pitchFamily="34" charset="0"/>
          <a:ea typeface="+mn-ea"/>
        </a:defRPr>
      </a:lvl4pPr>
      <a:lvl5pPr marL="2057400" indent="-228600" algn="l" rtl="0" eaLnBrk="0" fontAlgn="base" hangingPunct="0">
        <a:spcBef>
          <a:spcPct val="20000"/>
        </a:spcBef>
        <a:spcAft>
          <a:spcPct val="0"/>
        </a:spcAft>
        <a:buChar char="»"/>
        <a:defRPr kumimoji="1" sz="2000">
          <a:solidFill>
            <a:schemeClr val="tx1"/>
          </a:solidFill>
          <a:latin typeface="Arial" panose="020B0604020202020204" pitchFamily="34" charset="0"/>
          <a:ea typeface="+mn-ea"/>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4"/>
          <p:cNvSpPr txBox="1">
            <a:spLocks noChangeArrowheads="1"/>
          </p:cNvSpPr>
          <p:nvPr/>
        </p:nvSpPr>
        <p:spPr bwMode="auto">
          <a:xfrm>
            <a:off x="1763688" y="3429000"/>
            <a:ext cx="5871596" cy="625364"/>
          </a:xfrm>
          <a:prstGeom prst="rect">
            <a:avLst/>
          </a:prstGeom>
          <a:noFill/>
          <a:ln w="9525">
            <a:noFill/>
            <a:miter lim="800000"/>
          </a:ln>
        </p:spPr>
        <p:txBody>
          <a:bodyPr wrap="square">
            <a:spAutoFit/>
          </a:bodyPr>
          <a:lstStyle/>
          <a:p>
            <a:pPr algn="ctr">
              <a:lnSpc>
                <a:spcPts val="4420"/>
              </a:lnSpc>
              <a:defRPr/>
            </a:pPr>
            <a:r>
              <a:rPr lang="zh-CN" altLang="en-US" sz="3600" b="1" dirty="0">
                <a:latin typeface="微软雅黑" panose="020B0503020204020204" charset="-122"/>
                <a:ea typeface="微软雅黑" panose="020B0503020204020204" charset="-122"/>
                <a:cs typeface="微软雅黑" panose="020B0503020204020204" charset="-122"/>
              </a:rPr>
              <a:t>团体</a:t>
            </a:r>
            <a:r>
              <a:rPr lang="zh-CN" sz="3600" b="1" dirty="0">
                <a:latin typeface="微软雅黑" panose="020B0503020204020204" charset="-122"/>
                <a:ea typeface="微软雅黑" panose="020B0503020204020204" charset="-122"/>
                <a:cs typeface="微软雅黑" panose="020B0503020204020204" charset="-122"/>
              </a:rPr>
              <a:t>标准</a:t>
            </a:r>
            <a:r>
              <a:rPr lang="zh-CN" altLang="en-US" sz="3600" b="1" dirty="0">
                <a:latin typeface="微软雅黑" panose="020B0503020204020204" charset="-122"/>
                <a:ea typeface="微软雅黑" panose="020B0503020204020204" charset="-122"/>
                <a:cs typeface="微软雅黑" panose="020B0503020204020204" charset="-122"/>
              </a:rPr>
              <a:t>送审稿审查</a:t>
            </a:r>
            <a:r>
              <a:rPr lang="zh-CN" sz="3600" b="1" dirty="0">
                <a:latin typeface="微软雅黑" panose="020B0503020204020204" charset="-122"/>
                <a:ea typeface="微软雅黑" panose="020B0503020204020204" charset="-122"/>
                <a:cs typeface="微软雅黑" panose="020B0503020204020204" charset="-122"/>
              </a:rPr>
              <a:t>汇报</a:t>
            </a:r>
          </a:p>
        </p:txBody>
      </p:sp>
      <p:sp>
        <p:nvSpPr>
          <p:cNvPr id="6" name="文本框 4"/>
          <p:cNvSpPr txBox="1"/>
          <p:nvPr/>
        </p:nvSpPr>
        <p:spPr>
          <a:xfrm>
            <a:off x="395536" y="1722406"/>
            <a:ext cx="8404225" cy="1412053"/>
          </a:xfrm>
          <a:prstGeom prst="rect">
            <a:avLst/>
          </a:prstGeom>
          <a:noFill/>
        </p:spPr>
        <p:txBody>
          <a:bodyPr wrap="square" rtlCol="0">
            <a:spAutoFit/>
          </a:bodyPr>
          <a:lstStyle/>
          <a:p>
            <a:pPr algn="ctr">
              <a:lnSpc>
                <a:spcPct val="150000"/>
              </a:lnSpc>
            </a:pPr>
            <a:r>
              <a:rPr lang="zh-CN" altLang="en-US" sz="2400" b="1" dirty="0">
                <a:latin typeface="微软雅黑" panose="020B0503020204020204" charset="-122"/>
                <a:ea typeface="微软雅黑" panose="020B0503020204020204" charset="-122"/>
              </a:rPr>
              <a:t/>
            </a:r>
            <a:r>
              <a:rPr lang="en-US" altLang="zh-CN" sz="3600" b="1" dirty="0">
                <a:latin typeface="微软雅黑" panose="020B0503020204020204" charset="-122"/>
                <a:ea typeface="微软雅黑" panose="020B0503020204020204" charset="-122"/>
              </a:rPr>
              <a:t/>
            </a:r>
            <a:r>
              <a:rPr lang="zh-CN" altLang="en-US" sz="2400" b="1" dirty="0">
                <a:latin typeface="微软雅黑" panose="020B0503020204020204" charset="-122"/>
                <a:ea typeface="微软雅黑" panose="020B0503020204020204" charset="-122"/>
              </a:rPr>
              <a:t/>
            </a:r>
            <a:r>
              <a:rPr sz="2400" b="1">
                <a:latin typeface="微软雅黑"/>
                <a:ea typeface="微软雅黑"/>
              </a:rPr>
              <a:t>《</a:t>
            </a:r>
            <a:r>
              <a:rPr sz="3600" b="1">
                <a:latin typeface="微软雅黑"/>
                <a:ea typeface="微软雅黑"/>
              </a:rPr>
              <a:t>医用呼吸机关键零部件
第1部分：压力传感器</a:t>
            </a:r>
            <a:r>
              <a:rPr sz="2400" b="1">
                <a:latin typeface="微软雅黑"/>
                <a:ea typeface="微软雅黑"/>
              </a:rPr>
              <a:t>》</a:t>
            </a:r>
            <a:endParaRPr lang="en-US" altLang="zh-CN" sz="2400" b="1" dirty="0">
              <a:latin typeface="微软雅黑" panose="020B0503020204020204" charset="-122"/>
              <a:ea typeface="微软雅黑" panose="020B0503020204020204" charset="-122"/>
            </a:endParaRPr>
          </a:p>
          <a:p>
            <a:pPr algn="ctr">
              <a:lnSpc>
                <a:spcPct val="150000"/>
              </a:lnSpc>
            </a:pPr>
            <a:r>
              <a:rPr sz="2400" b="1">
                <a:latin typeface="微软雅黑"/>
                <a:ea typeface="微软雅黑"/>
              </a:rPr>
              <a:t>(计划号：CAMS2024016)</a:t>
            </a:r>
          </a:p>
        </p:txBody>
      </p:sp>
      <p:sp>
        <p:nvSpPr>
          <p:cNvPr id="5" name="文本框 4"/>
          <p:cNvSpPr txBox="1"/>
          <p:nvPr/>
        </p:nvSpPr>
        <p:spPr>
          <a:xfrm>
            <a:off x="1285852" y="4643446"/>
            <a:ext cx="6510359" cy="499624"/>
          </a:xfrm>
          <a:prstGeom prst="rect">
            <a:avLst/>
          </a:prstGeom>
          <a:noFill/>
        </p:spPr>
        <p:txBody>
          <a:bodyPr wrap="square" rtlCol="0">
            <a:spAutoFit/>
          </a:bodyPr>
          <a:lstStyle/>
          <a:p>
            <a:pPr algn="ctr">
              <a:lnSpc>
                <a:spcPct val="150000"/>
              </a:lnSpc>
            </a:pPr>
            <a:r>
              <a:rPr lang="en-US" altLang="zh-CN" sz="2000" b="1" dirty="0">
                <a:latin typeface="微软雅黑" panose="020B0503020204020204" charset="-122"/>
                <a:ea typeface="微软雅黑" panose="020B0503020204020204" charset="-122"/>
              </a:rPr>
              <a:t/>
            </a:r>
            <a:r>
              <a:rPr sz="2000" b="1">
                <a:latin typeface="微软雅黑"/>
                <a:ea typeface="微软雅黑"/>
              </a:rPr>
              <a:t>2025.7</a:t>
            </a:r>
          </a:p>
        </p:txBody>
      </p:sp>
      <p:sp>
        <p:nvSpPr>
          <p:cNvPr id="2" name="Text Box 4">
            <a:extLst>
              <a:ext uri="{FF2B5EF4-FFF2-40B4-BE49-F238E27FC236}">
                <a16:creationId xmlns:a16="http://schemas.microsoft.com/office/drawing/2014/main" id="{B9A1D3A3-656D-1816-A995-A38640E43984}"/>
              </a:ext>
            </a:extLst>
          </p:cNvPr>
          <p:cNvSpPr txBox="1">
            <a:spLocks noChangeArrowheads="1"/>
          </p:cNvSpPr>
          <p:nvPr/>
        </p:nvSpPr>
        <p:spPr bwMode="auto">
          <a:xfrm>
            <a:off x="1661850" y="5250669"/>
            <a:ext cx="5871596" cy="576568"/>
          </a:xfrm>
          <a:prstGeom prst="rect">
            <a:avLst/>
          </a:prstGeom>
          <a:noFill/>
          <a:ln w="9525">
            <a:noFill/>
            <a:miter lim="800000"/>
          </a:ln>
        </p:spPr>
        <p:txBody>
          <a:bodyPr wrap="square">
            <a:spAutoFit/>
          </a:bodyPr>
          <a:lstStyle/>
          <a:p>
            <a:pPr algn="ctr">
              <a:lnSpc>
                <a:spcPts val="4420"/>
              </a:lnSpc>
              <a:defRPr/>
            </a:pPr>
            <a:r>
              <a:rPr lang="zh-CN" b="1" dirty="0">
                <a:latin typeface="微软雅黑" panose="020B0503020204020204" charset="-122"/>
                <a:ea typeface="微软雅黑" panose="020B0503020204020204" charset="-122"/>
                <a:cs typeface="微软雅黑" panose="020B0503020204020204" charset="-122"/>
              </a:rPr>
              <a:t/>
            </a:r>
            <a:r>
              <a:rPr lang="zh-CN" altLang="en-US" b="1" dirty="0">
                <a:latin typeface="微软雅黑" panose="020B0503020204020204" charset="-122"/>
                <a:ea typeface="微软雅黑" panose="020B0503020204020204" charset="-122"/>
                <a:cs typeface="微软雅黑" panose="020B0503020204020204" charset="-122"/>
              </a:rPr>
              <a:t/>
            </a:r>
            <a:r>
              <a:rPr sz="2400" b="1">
                <a:latin typeface="微软雅黑"/>
                <a:ea typeface="微软雅黑"/>
              </a:rPr>
              <a:t>汇报人：刘帅</a:t>
            </a:r>
            <a:endParaRPr lang="zh-CN"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8512"/>
    </mc:Choice>
    <mc:Fallback xmlns="">
      <p:transition spd="slow" advTm="1851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994460" y="1584042"/>
            <a:ext cx="7113905" cy="471805"/>
            <a:chOff x="2323" y="3083"/>
            <a:chExt cx="10043" cy="725"/>
          </a:xfrm>
          <a:solidFill>
            <a:srgbClr val="FF0000"/>
          </a:solidFill>
        </p:grpSpPr>
        <p:grpSp>
          <p:nvGrpSpPr>
            <p:cNvPr id="2" name="组合 35"/>
            <p:cNvGrpSpPr/>
            <p:nvPr/>
          </p:nvGrpSpPr>
          <p:grpSpPr>
            <a:xfrm>
              <a:off x="2353" y="3083"/>
              <a:ext cx="10013" cy="725"/>
              <a:chOff x="3324" y="4005"/>
              <a:chExt cx="9188" cy="733"/>
            </a:xfrm>
            <a:grpFill/>
          </p:grpSpPr>
          <p:sp>
            <p:nvSpPr>
              <p:cNvPr id="4" name="任意多边形 3"/>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p:cNvSpPr txBox="1"/>
            <p:nvPr/>
          </p:nvSpPr>
          <p:spPr>
            <a:xfrm>
              <a:off x="3910" y="3083"/>
              <a:ext cx="8183" cy="613"/>
            </a:xfrm>
            <a:prstGeom prst="rect">
              <a:avLst/>
            </a:prstGeom>
            <a:grp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p:cNvSpPr txBox="1"/>
            <p:nvPr/>
          </p:nvSpPr>
          <p:spPr>
            <a:xfrm rot="2460000">
              <a:off x="2323" y="3141"/>
              <a:ext cx="846" cy="566"/>
            </a:xfrm>
            <a:prstGeom prst="rect">
              <a:avLst/>
            </a:prstGeom>
            <a:grpFill/>
          </p:spPr>
          <p:txBody>
            <a:bodyPr wrap="square" rtlCol="0">
              <a:spAutoFit/>
            </a:bodyPr>
            <a:lstStyle/>
            <a:p>
              <a:r>
                <a:rPr lang="en-US" altLang="zh-CN" sz="1800" b="1">
                  <a:solidFill>
                    <a:srgbClr val="FF0000"/>
                  </a:solidFill>
                  <a:latin typeface="微软雅黑" panose="020B0503020204020204" charset="-122"/>
                  <a:ea typeface="微软雅黑" panose="020B0503020204020204" charset="-122"/>
                </a:rPr>
                <a:t>01</a:t>
              </a:r>
            </a:p>
          </p:txBody>
        </p:sp>
      </p:grpSp>
      <p:sp>
        <p:nvSpPr>
          <p:cNvPr id="8" name="标题 7"/>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p:cNvGrpSpPr/>
          <p:nvPr/>
        </p:nvGrpSpPr>
        <p:grpSpPr>
          <a:xfrm>
            <a:off x="988110" y="3706847"/>
            <a:ext cx="7120890" cy="463550"/>
            <a:chOff x="2289" y="7221"/>
            <a:chExt cx="10062" cy="731"/>
          </a:xfrm>
        </p:grpSpPr>
        <p:grpSp>
          <p:nvGrpSpPr>
            <p:cNvPr id="41" name="组合 16"/>
            <p:cNvGrpSpPr/>
            <p:nvPr/>
          </p:nvGrpSpPr>
          <p:grpSpPr>
            <a:xfrm>
              <a:off x="2334" y="7227"/>
              <a:ext cx="10017" cy="725"/>
              <a:chOff x="3324" y="4005"/>
              <a:chExt cx="9188" cy="733"/>
            </a:xfrm>
            <a:solidFill>
              <a:srgbClr val="0186D1"/>
            </a:solidFill>
          </p:grpSpPr>
          <p:sp>
            <p:nvSpPr>
              <p:cNvPr id="42" name="任意多边形 41"/>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04</a:t>
              </a:r>
            </a:p>
          </p:txBody>
        </p:sp>
        <p:sp>
          <p:nvSpPr>
            <p:cNvPr id="47" name="文本框 11"/>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四、</a:t>
              </a:r>
              <a:r>
                <a:rPr lang="zh-CN" sz="2000" b="1" dirty="0">
                  <a:solidFill>
                    <a:schemeClr val="bg1"/>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p:cNvGrpSpPr/>
          <p:nvPr/>
        </p:nvGrpSpPr>
        <p:grpSpPr>
          <a:xfrm>
            <a:off x="991920" y="2291432"/>
            <a:ext cx="7155815" cy="464185"/>
            <a:chOff x="2316" y="4509"/>
            <a:chExt cx="10104" cy="731"/>
          </a:xfrm>
        </p:grpSpPr>
        <p:grpSp>
          <p:nvGrpSpPr>
            <p:cNvPr id="34" name="组合 16"/>
            <p:cNvGrpSpPr/>
            <p:nvPr/>
          </p:nvGrpSpPr>
          <p:grpSpPr>
            <a:xfrm>
              <a:off x="2360" y="4515"/>
              <a:ext cx="10005" cy="725"/>
              <a:chOff x="3324" y="4005"/>
              <a:chExt cx="9188" cy="733"/>
            </a:xfrm>
            <a:solidFill>
              <a:srgbClr val="0186D1"/>
            </a:solidFill>
          </p:grpSpPr>
          <p:sp>
            <p:nvSpPr>
              <p:cNvPr id="37" name="任意多边形 36"/>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p:cNvSpPr txBox="1"/>
            <p:nvPr/>
          </p:nvSpPr>
          <p:spPr>
            <a:xfrm rot="2460000">
              <a:off x="2316" y="458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02</a:t>
              </a:r>
            </a:p>
          </p:txBody>
        </p:sp>
        <p:sp>
          <p:nvSpPr>
            <p:cNvPr id="59" name="文本框 11"/>
            <p:cNvSpPr txBox="1"/>
            <p:nvPr/>
          </p:nvSpPr>
          <p:spPr>
            <a:xfrm>
              <a:off x="3972" y="4509"/>
              <a:ext cx="8448"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二、项目适用范围及主要内容</a:t>
              </a:r>
            </a:p>
          </p:txBody>
        </p:sp>
      </p:grpSp>
      <p:grpSp>
        <p:nvGrpSpPr>
          <p:cNvPr id="17" name="组合 16"/>
          <p:cNvGrpSpPr/>
          <p:nvPr/>
        </p:nvGrpSpPr>
        <p:grpSpPr>
          <a:xfrm>
            <a:off x="991920" y="2998187"/>
            <a:ext cx="7117080" cy="464185"/>
            <a:chOff x="2316" y="5859"/>
            <a:chExt cx="10049" cy="731"/>
          </a:xfrm>
        </p:grpSpPr>
        <p:grpSp>
          <p:nvGrpSpPr>
            <p:cNvPr id="60" name="组合 16"/>
            <p:cNvGrpSpPr/>
            <p:nvPr/>
          </p:nvGrpSpPr>
          <p:grpSpPr>
            <a:xfrm>
              <a:off x="2360" y="5865"/>
              <a:ext cx="10005" cy="725"/>
              <a:chOff x="3324" y="4005"/>
              <a:chExt cx="9188" cy="733"/>
            </a:xfrm>
            <a:solidFill>
              <a:srgbClr val="0186D1"/>
            </a:solidFill>
          </p:grpSpPr>
          <p:sp>
            <p:nvSpPr>
              <p:cNvPr id="61" name="任意多边形 60"/>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p:cNvSpPr txBox="1"/>
            <p:nvPr/>
          </p:nvSpPr>
          <p:spPr>
            <a:xfrm rot="2460000">
              <a:off x="2316" y="593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03</a:t>
              </a:r>
            </a:p>
          </p:txBody>
        </p:sp>
        <p:sp>
          <p:nvSpPr>
            <p:cNvPr id="66" name="文本框 11"/>
            <p:cNvSpPr txBox="1"/>
            <p:nvPr/>
          </p:nvSpPr>
          <p:spPr>
            <a:xfrm>
              <a:off x="3976" y="5859"/>
              <a:ext cx="7487" cy="628"/>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三、项目制定过程</a:t>
              </a:r>
            </a:p>
          </p:txBody>
        </p:sp>
      </p:grpSp>
      <p:grpSp>
        <p:nvGrpSpPr>
          <p:cNvPr id="19" name="组合 18"/>
          <p:cNvGrpSpPr/>
          <p:nvPr/>
        </p:nvGrpSpPr>
        <p:grpSpPr>
          <a:xfrm>
            <a:off x="988110" y="4411697"/>
            <a:ext cx="7120255" cy="464185"/>
            <a:chOff x="2263" y="8438"/>
            <a:chExt cx="10062" cy="731"/>
          </a:xfrm>
        </p:grpSpPr>
        <p:grpSp>
          <p:nvGrpSpPr>
            <p:cNvPr id="3" name="组合 16"/>
            <p:cNvGrpSpPr/>
            <p:nvPr/>
          </p:nvGrpSpPr>
          <p:grpSpPr>
            <a:xfrm>
              <a:off x="2308" y="8444"/>
              <a:ext cx="10017" cy="725"/>
              <a:chOff x="3324" y="4005"/>
              <a:chExt cx="9188" cy="733"/>
            </a:xfrm>
            <a:solidFill>
              <a:srgbClr val="0186D1"/>
            </a:solidFill>
          </p:grpSpPr>
          <p:sp>
            <p:nvSpPr>
              <p:cNvPr id="7" name="任意多边形 6"/>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p:cNvSpPr txBox="1"/>
            <p:nvPr/>
          </p:nvSpPr>
          <p:spPr>
            <a:xfrm rot="2460000">
              <a:off x="2263" y="8515"/>
              <a:ext cx="782"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05</a:t>
              </a:r>
            </a:p>
          </p:txBody>
        </p:sp>
        <p:sp>
          <p:nvSpPr>
            <p:cNvPr id="14" name="文本框 11"/>
            <p:cNvSpPr txBox="1"/>
            <p:nvPr/>
          </p:nvSpPr>
          <p:spPr>
            <a:xfrm>
              <a:off x="3928" y="8438"/>
              <a:ext cx="7637"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p:cNvGrpSpPr/>
          <p:nvPr/>
        </p:nvGrpSpPr>
        <p:grpSpPr>
          <a:xfrm>
            <a:off x="971600" y="5053682"/>
            <a:ext cx="7120890" cy="463550"/>
            <a:chOff x="2289" y="7221"/>
            <a:chExt cx="10062" cy="731"/>
          </a:xfrm>
        </p:grpSpPr>
        <p:grpSp>
          <p:nvGrpSpPr>
            <p:cNvPr id="21" name="组合 16"/>
            <p:cNvGrpSpPr/>
            <p:nvPr/>
          </p:nvGrpSpPr>
          <p:grpSpPr>
            <a:xfrm>
              <a:off x="2334" y="7227"/>
              <a:ext cx="10017" cy="725"/>
              <a:chOff x="3324" y="4005"/>
              <a:chExt cx="9188" cy="733"/>
            </a:xfrm>
            <a:solidFill>
              <a:srgbClr val="0186D1"/>
            </a:solidFill>
          </p:grpSpPr>
          <p:sp>
            <p:nvSpPr>
              <p:cNvPr id="23" name="任意多边形 22"/>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06</a:t>
              </a:r>
            </a:p>
          </p:txBody>
        </p:sp>
        <p:sp>
          <p:nvSpPr>
            <p:cNvPr id="28" name="文本框 11"/>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六、</a:t>
              </a:r>
              <a:r>
                <a:rPr lang="zh-CN" altLang="en-US" sz="2000" b="1" dirty="0">
                  <a:solidFill>
                    <a:schemeClr val="bg1"/>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979220" y="188640"/>
            <a:ext cx="3882794"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olidFill>
                  <a:schemeClr val="bg1"/>
                </a:solidFill>
                <a:latin typeface="微软雅黑" panose="020B0503020204020204" charset="-122"/>
                <a:ea typeface="微软雅黑" panose="020B0503020204020204" charset="-122"/>
              </a:rPr>
              <a:t/>
            </a:r>
            <a:r>
              <a:rPr sz="2800" b="1">
                <a:solidFill>
                  <a:srgbClr val="FFFFFF"/>
                </a:solidFill>
                <a:latin typeface="微软雅黑"/>
                <a:ea typeface="微软雅黑"/>
              </a:rPr>
              <a:t> 一、项目背景及必要性</a:t>
            </a:r>
            <a:endParaRPr lang="zh-CN" altLang="en-US" sz="2800" b="1" dirty="0">
              <a:solidFill>
                <a:srgbClr val="FF0000"/>
              </a:solidFill>
              <a:latin typeface="微软雅黑" panose="020B0503020204020204" charset="-122"/>
              <a:ea typeface="微软雅黑" panose="020B0503020204020204" charset="-122"/>
            </a:endParaRPr>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5" name="文本框 4">
            <a:extLst>
              <a:ext uri="{FF2B5EF4-FFF2-40B4-BE49-F238E27FC236}">
                <a16:creationId xmlns:a16="http://schemas.microsoft.com/office/drawing/2014/main" id="{4CD96A6B-4A12-CC51-A3B6-D48234B7370C}"/>
              </a:ext>
            </a:extLst>
          </p:cNvPr>
          <p:cNvSpPr txBox="1"/>
          <p:nvPr/>
        </p:nvSpPr>
        <p:spPr>
          <a:xfrm>
            <a:off x="445134" y="953276"/>
            <a:ext cx="2470681"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rPr>
              <a:t/>
            </a:r>
            <a:r>
              <a:rPr sz="2400" b="1">
                <a:solidFill>
                  <a:srgbClr val="FFFFFF"/>
                </a:solidFill>
                <a:latin typeface="微软雅黑"/>
                <a:ea typeface="微软雅黑"/>
              </a:rPr>
              <a:t>项目背景及意义</a:t>
            </a:r>
          </a:p>
        </p:txBody>
      </p:sp>
      <p:sp>
        <p:nvSpPr>
          <p:cNvPr id="7" name="Rectangle 1">
            <a:extLst>
              <a:ext uri="{FF2B5EF4-FFF2-40B4-BE49-F238E27FC236}">
                <a16:creationId xmlns:a16="http://schemas.microsoft.com/office/drawing/2014/main" id="{9AE081EC-3FE2-3FB9-6527-D6525B9E360F}"/>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压力传感器作为医用呼吸机关键零部件之一，其性能参数直接决定着整机的精准性和可靠性，但当前我国压力、气体流量等传感部件长期</a:t>
            </a:r>
            <a:r>
              <a:rPr sz="2000" b="1">
                <a:solidFill>
                  <a:srgbClr val="FF0000"/>
                </a:solidFill>
                <a:latin typeface="微软雅黑"/>
                <a:ea typeface="微软雅黑"/>
              </a:rPr>
              <a:t>依赖进口</a:t>
            </a:r>
            <a:r>
              <a:rPr sz="2000" b="1">
                <a:solidFill>
                  <a:srgbClr val="0070C0"/>
                </a:solidFill>
                <a:latin typeface="微软雅黑"/>
                <a:ea typeface="微软雅黑"/>
              </a:rPr>
              <a:t>，国产产品可靠性、稳定性与国外差距较大，“</a:t>
            </a:r>
            <a:r>
              <a:rPr sz="2000" b="1">
                <a:solidFill>
                  <a:srgbClr val="FF0000"/>
                </a:solidFill>
                <a:latin typeface="微软雅黑"/>
                <a:ea typeface="微软雅黑"/>
              </a:rPr>
              <a:t>能用不敢用</a:t>
            </a:r>
            <a:r>
              <a:rPr sz="2000" b="1">
                <a:solidFill>
                  <a:srgbClr val="0070C0"/>
                </a:solidFill>
                <a:latin typeface="微软雅黑"/>
                <a:ea typeface="微软雅黑"/>
              </a:rPr>
              <a:t>”问题突出。本标准旨在建立健全压力传感器性能指标评价体系，统一呼吸机核心零部件专用接口剖面，推动</a:t>
            </a:r>
            <a:r>
              <a:rPr sz="2000" b="1">
                <a:solidFill>
                  <a:srgbClr val="FF0000"/>
                </a:solidFill>
                <a:latin typeface="微软雅黑"/>
                <a:ea typeface="微软雅黑"/>
              </a:rPr>
              <a:t>国产替代</a:t>
            </a:r>
            <a:r>
              <a:rPr sz="2000" b="1">
                <a:solidFill>
                  <a:srgbClr val="0070C0"/>
                </a:solidFill>
                <a:latin typeface="微软雅黑"/>
                <a:ea typeface="微软雅黑"/>
              </a:rPr>
              <a:t>进程。</a:t>
            </a:r>
          </a:p>
        </p:txBody>
      </p:sp>
      <p:graphicFrame>
        <p:nvGraphicFramePr>
          <p:cNvPr id="48" name="Table 47"/>
          <p:cNvGraphicFramePr>
            <a:graphicFrameLocks noGrp="1"/>
          </p:cNvGraphicFramePr>
          <p:nvPr/>
        </p:nvGraphicFramePr>
        <p:xfrm>
          <a:off x="422001" y="3429000"/>
          <a:ext cx="8299997" cy="2100000"/>
        </p:xfrm>
        <a:graphic>
          <a:graphicData uri="http://schemas.openxmlformats.org/drawingml/2006/table">
            <a:tbl>
              <a:tblPr firstRow="1" bandRow="0" lastRow="0" bandCol="0">
                <a:tableStyleId>{5C22544A-7EE6-4342-B048-85BDC9FD1C3A}</a:tableStyleId>
              </a:tblPr>
              <a:tblGrid>
                <a:gridCol w="2489999"/>
                <a:gridCol w="2904999"/>
                <a:gridCol w="2904999"/>
              </a:tblGrid>
              <a:tr h="420000">
                <a:tc>
                  <a:txBody>
                    <a:bodyPr/>
                    <a:lstStyle/>
                    <a:p>
                      <a:pPr algn="ctr"/>
                      <a:r>
                        <a:rPr sz="1400" b="1">
                          <a:solidFill>
                            <a:srgbClr val="FFFFFF"/>
                          </a:solidFill>
                          <a:latin typeface="微软雅黑"/>
                          <a:ea typeface="微软雅黑"/>
                        </a:rPr>
                        <a:t>支撑文件</a:t>
                      </a:r>
                    </a:p>
                  </a:txBody>
                  <a:tcPr anchor="ctr">
                    <a:solidFill>
                      <a:srgbClr val="0070C0"/>
                    </a:solidFill>
                  </a:tcPr>
                </a:tc>
                <a:tc>
                  <a:txBody>
                    <a:bodyPr/>
                    <a:lstStyle/>
                    <a:p>
                      <a:pPr algn="ctr"/>
                      <a:r>
                        <a:rPr sz="1400" b="1">
                          <a:solidFill>
                            <a:srgbClr val="FFFFFF"/>
                          </a:solidFill>
                          <a:latin typeface="微软雅黑"/>
                          <a:ea typeface="微软雅黑"/>
                        </a:rPr>
                        <a:t>发布部门</a:t>
                      </a:r>
                    </a:p>
                  </a:txBody>
                  <a:tcPr anchor="ctr">
                    <a:solidFill>
                      <a:srgbClr val="0070C0"/>
                    </a:solidFill>
                  </a:tcPr>
                </a:tc>
                <a:tc>
                  <a:txBody>
                    <a:bodyPr/>
                    <a:lstStyle/>
                    <a:p>
                      <a:pPr algn="ctr"/>
                      <a:r>
                        <a:rPr sz="1400" b="1">
                          <a:solidFill>
                            <a:srgbClr val="FFFFFF"/>
                          </a:solidFill>
                          <a:latin typeface="微软雅黑"/>
                          <a:ea typeface="微软雅黑"/>
                        </a:rPr>
                        <a:t>主要要求</a:t>
                      </a:r>
                    </a:p>
                  </a:txBody>
                  <a:tcPr anchor="ctr">
                    <a:solidFill>
                      <a:srgbClr val="0070C0"/>
                    </a:solidFill>
                  </a:tcPr>
                </a:tc>
              </a:tr>
              <a:tr h="420000">
                <a:tc>
                  <a:txBody>
                    <a:bodyPr/>
                    <a:lstStyle/>
                    <a:p>
                      <a:pPr algn="l"/>
                      <a:r>
                        <a:rPr sz="1200" b="0">
                          <a:solidFill>
                            <a:srgbClr val="000000"/>
                          </a:solidFill>
                          <a:latin typeface="微软雅黑"/>
                          <a:ea typeface="微软雅黑"/>
                        </a:rPr>
                        <a:t>中机标字[2024]17号
第三批团体标准制修订计划</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中国机械工业标准化
技术协会</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批准立项医用呼吸机用
压力传感器标准</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GB/T 1.1—2020
《标准化工作导则》</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国家标准化管理委员会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标准化文件结构和
起草规则</a:t>
                      </a:r>
                    </a:p>
                  </a:txBody>
                  <a:tcPr anchor="ctr" marL="91440" marR="91440" marT="45720" marB="45720">
                    <a:solidFill>
                      <a:srgbClr val="FFFFFF"/>
                    </a:solidFill>
                  </a:tcPr>
                </a:tc>
              </a:tr>
              <a:tr h="420000">
                <a:tc>
                  <a:txBody>
                    <a:bodyPr/>
                    <a:lstStyle/>
                    <a:p>
                      <a:pPr algn="l"/>
                      <a:r>
                        <a:rPr sz="1200" b="0">
                          <a:solidFill>
                            <a:srgbClr val="000000"/>
                          </a:solidFill>
                          <a:latin typeface="微软雅黑"/>
                          <a:ea typeface="微软雅黑"/>
                        </a:rPr>
                        <a:t>YY/T 0316-2016
《医疗器械 风险管理》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国家药品监督管理局</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医疗器械风险管理要求</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GB/T 15478-2015
《压力传感器性能试验方法》</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国家标准化管理委员会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压力传感器性能试验方法</a:t>
                      </a:r>
                    </a:p>
                  </a:txBody>
                  <a:tcPr anchor="ctr" marL="91440" marR="91440" marT="45720" marB="45720">
                    <a:solidFill>
                      <a:srgbClr val="FFFFFF"/>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445135" y="953276"/>
            <a:ext cx="1840308"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rPr>
              <a:t/>
            </a:r>
            <a:r>
              <a:rPr sz="2400" b="1">
                <a:solidFill>
                  <a:srgbClr val="FFFFFF"/>
                </a:solidFill>
                <a:latin typeface="微软雅黑"/>
                <a:ea typeface="微软雅黑"/>
              </a:rPr>
              <a:t>必要性分析</a:t>
            </a:r>
          </a:p>
        </p:txBody>
      </p:sp>
      <p:sp>
        <p:nvSpPr>
          <p:cNvPr id="4" name="标题 7">
            <a:extLst>
              <a:ext uri="{FF2B5EF4-FFF2-40B4-BE49-F238E27FC236}">
                <a16:creationId xmlns:a16="http://schemas.microsoft.com/office/drawing/2014/main" id="{C0BEED94-52AF-8634-3361-D59484984C37}"/>
              </a:ext>
            </a:extLst>
          </p:cNvPr>
          <p:cNvSpPr txBox="1"/>
          <p:nvPr/>
        </p:nvSpPr>
        <p:spPr>
          <a:xfrm>
            <a:off x="2979220" y="188640"/>
            <a:ext cx="3882794"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olidFill>
                  <a:schemeClr val="bg1"/>
                </a:solidFill>
                <a:latin typeface="微软雅黑" panose="020B0503020204020204" charset="-122"/>
                <a:ea typeface="微软雅黑" panose="020B0503020204020204" charset="-122"/>
              </a:rPr>
              <a:t/>
            </a:r>
            <a:r>
              <a:rPr sz="2800" b="1">
                <a:solidFill>
                  <a:srgbClr val="FFFFFF"/>
                </a:solidFill>
                <a:latin typeface="微软雅黑"/>
                <a:ea typeface="微软雅黑"/>
              </a:rPr>
              <a:t> 一、项目背景及必要性</a:t>
            </a:r>
            <a:endParaRPr lang="zh-CN" altLang="en-US" sz="2800" b="1" dirty="0">
              <a:solidFill>
                <a:srgbClr val="FF0000"/>
              </a:solidFill>
              <a:latin typeface="微软雅黑" panose="020B0503020204020204" charset="-122"/>
              <a:ea typeface="微软雅黑" panose="020B0503020204020204" charset="-122"/>
            </a:endParaRPr>
          </a:p>
        </p:txBody>
      </p:sp>
      <p:sp>
        <p:nvSpPr>
          <p:cNvPr id="7" name="Rectangle 1">
            <a:extLst>
              <a:ext uri="{FF2B5EF4-FFF2-40B4-BE49-F238E27FC236}">
                <a16:creationId xmlns:a16="http://schemas.microsoft.com/office/drawing/2014/main" id="{94D3BE1E-C450-C05F-817C-A46E31A8E021}"/>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当前国内医用呼吸机用核心压力传感器</a:t>
            </a:r>
            <a:r>
              <a:rPr sz="2000" b="1">
                <a:solidFill>
                  <a:srgbClr val="FF0000"/>
                </a:solidFill>
                <a:latin typeface="微软雅黑"/>
                <a:ea typeface="微软雅黑"/>
              </a:rPr>
              <a:t>80%</a:t>
            </a:r>
            <a:r>
              <a:rPr sz="2000" b="1">
                <a:solidFill>
                  <a:srgbClr val="0070C0"/>
                </a:solidFill>
                <a:latin typeface="微软雅黑"/>
                <a:ea typeface="微软雅黑"/>
              </a:rPr>
              <a:t>由霍尼韦尔、First Sensor、TE等国外厂家产品为主，国内虽有通用压力传感器标准体系，但缺乏针对医用呼吸机特殊场景的专用标准，难以有效支撑国产传感器的质量把控。制定本标准能</a:t>
            </a:r>
            <a:r>
              <a:rPr sz="2000" b="1">
                <a:solidFill>
                  <a:srgbClr val="FF0000"/>
                </a:solidFill>
                <a:latin typeface="微软雅黑"/>
                <a:ea typeface="微软雅黑"/>
              </a:rPr>
              <a:t>填补</a:t>
            </a:r>
            <a:r>
              <a:rPr sz="2000" b="1">
                <a:solidFill>
                  <a:srgbClr val="0070C0"/>
                </a:solidFill>
                <a:latin typeface="微软雅黑"/>
                <a:ea typeface="微软雅黑"/>
              </a:rPr>
              <a:t>国产医用呼吸机关键部件压力传感器的技术评价</a:t>
            </a:r>
            <a:r>
              <a:rPr sz="2000" b="1">
                <a:solidFill>
                  <a:srgbClr val="FF0000"/>
                </a:solidFill>
                <a:latin typeface="微软雅黑"/>
                <a:ea typeface="微软雅黑"/>
              </a:rPr>
              <a:t>标准空白</a:t>
            </a:r>
            <a:r>
              <a:rPr sz="2000" b="1">
                <a:solidFill>
                  <a:srgbClr val="0070C0"/>
                </a:solidFill>
                <a:latin typeface="微软雅黑"/>
                <a:ea typeface="微软雅黑"/>
              </a:rPr>
              <a:t>，为传感器设计、生产、检验提供统一依据。</a:t>
            </a:r>
          </a:p>
        </p:txBody>
      </p:sp>
      <p:pic>
        <p:nvPicPr>
          <p:cNvPr id="9" name="Picture 8" descr="Slide4-必要性分析.jpg"/>
          <p:cNvPicPr>
            <a:picLocks noChangeAspect="1"/>
          </p:cNvPicPr>
          <p:nvPr/>
        </p:nvPicPr>
        <p:blipFill>
          <a:blip r:embed="rId5"/>
          <a:stretch>
            <a:fillRect/>
          </a:stretch>
        </p:blipFill>
        <p:spPr>
          <a:xfrm>
            <a:off x="469116" y="3085953"/>
            <a:ext cx="8093672" cy="32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3338-6C97-915B-AC70-120B94C065E3}"/>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7A73BC33-418D-73C8-A073-C1AA363964BC}"/>
              </a:ext>
            </a:extLst>
          </p:cNvPr>
          <p:cNvGrpSpPr/>
          <p:nvPr/>
        </p:nvGrpSpPr>
        <p:grpSpPr>
          <a:xfrm>
            <a:off x="994460" y="1584042"/>
            <a:ext cx="7113905" cy="471805"/>
            <a:chOff x="2323" y="3083"/>
            <a:chExt cx="10043" cy="725"/>
          </a:xfrm>
        </p:grpSpPr>
        <p:grpSp>
          <p:nvGrpSpPr>
            <p:cNvPr id="2" name="组合 35">
              <a:extLst>
                <a:ext uri="{FF2B5EF4-FFF2-40B4-BE49-F238E27FC236}">
                  <a16:creationId xmlns:a16="http://schemas.microsoft.com/office/drawing/2014/main" id="{95816798-F81A-6B99-2702-540FA7C17685}"/>
                </a:ext>
              </a:extLst>
            </p:cNvPr>
            <p:cNvGrpSpPr/>
            <p:nvPr/>
          </p:nvGrpSpPr>
          <p:grpSpPr>
            <a:xfrm>
              <a:off x="2353" y="3083"/>
              <a:ext cx="10013" cy="725"/>
              <a:chOff x="3324" y="4005"/>
              <a:chExt cx="9188" cy="733"/>
            </a:xfrm>
            <a:solidFill>
              <a:srgbClr val="0186D1"/>
            </a:solidFill>
          </p:grpSpPr>
          <p:sp>
            <p:nvSpPr>
              <p:cNvPr id="4" name="任意多边形 3">
                <a:extLst>
                  <a:ext uri="{FF2B5EF4-FFF2-40B4-BE49-F238E27FC236}">
                    <a16:creationId xmlns:a16="http://schemas.microsoft.com/office/drawing/2014/main" id="{4DCDE527-CF95-39BA-B6B7-9273F478BAA6}"/>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a:extLst>
                  <a:ext uri="{FF2B5EF4-FFF2-40B4-BE49-F238E27FC236}">
                    <a16:creationId xmlns:a16="http://schemas.microsoft.com/office/drawing/2014/main" id="{66011420-4CAB-05C4-D559-C5688CC15406}"/>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a:extLst>
                  <a:ext uri="{FF2B5EF4-FFF2-40B4-BE49-F238E27FC236}">
                    <a16:creationId xmlns:a16="http://schemas.microsoft.com/office/drawing/2014/main" id="{6C08D1FE-F20B-4D9C-37A8-907BF0F1A144}"/>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a:extLst>
                  <a:ext uri="{FF2B5EF4-FFF2-40B4-BE49-F238E27FC236}">
                    <a16:creationId xmlns:a16="http://schemas.microsoft.com/office/drawing/2014/main" id="{E3587289-2C7A-FDF2-FA0F-5F20C40224F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a:extLst>
                <a:ext uri="{FF2B5EF4-FFF2-40B4-BE49-F238E27FC236}">
                  <a16:creationId xmlns:a16="http://schemas.microsoft.com/office/drawing/2014/main" id="{14EEA8AF-172D-1AC0-BCEC-514680089208}"/>
                </a:ext>
              </a:extLst>
            </p:cNvPr>
            <p:cNvSpPr txBox="1"/>
            <p:nvPr/>
          </p:nvSpPr>
          <p:spPr>
            <a:xfrm>
              <a:off x="3910" y="3083"/>
              <a:ext cx="8183" cy="613"/>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a:extLst>
                <a:ext uri="{FF2B5EF4-FFF2-40B4-BE49-F238E27FC236}">
                  <a16:creationId xmlns:a16="http://schemas.microsoft.com/office/drawing/2014/main" id="{9D969E93-F7F0-4D3A-CE7F-F44F5F27F5C6}"/>
                </a:ext>
              </a:extLst>
            </p:cNvPr>
            <p:cNvSpPr txBox="1"/>
            <p:nvPr/>
          </p:nvSpPr>
          <p:spPr>
            <a:xfrm rot="2460000">
              <a:off x="2323" y="3141"/>
              <a:ext cx="846" cy="566"/>
            </a:xfrm>
            <a:prstGeom prst="rect">
              <a:avLst/>
            </a:prstGeom>
            <a:noFill/>
          </p:spPr>
          <p:txBody>
            <a:bodyPr wrap="square" rtlCol="0">
              <a:spAutoFit/>
            </a:bodyPr>
            <a:lstStyle/>
            <a:p>
              <a:r>
                <a:rPr lang="en-US" altLang="zh-CN" sz="1800" b="1">
                  <a:solidFill>
                    <a:schemeClr val="bg1"/>
                  </a:solidFill>
                  <a:latin typeface="微软雅黑" panose="020B0503020204020204" charset="-122"/>
                  <a:ea typeface="微软雅黑" panose="020B0503020204020204" charset="-122"/>
                </a:rPr>
                <a:t>01</a:t>
              </a:r>
            </a:p>
          </p:txBody>
        </p:sp>
      </p:grpSp>
      <p:sp>
        <p:nvSpPr>
          <p:cNvPr id="8" name="标题 7">
            <a:extLst>
              <a:ext uri="{FF2B5EF4-FFF2-40B4-BE49-F238E27FC236}">
                <a16:creationId xmlns:a16="http://schemas.microsoft.com/office/drawing/2014/main" id="{E331E205-17F9-F1B2-EDAD-CFE0F9D748A9}"/>
              </a:ext>
            </a:extLst>
          </p:cNvPr>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a:extLst>
              <a:ext uri="{FF2B5EF4-FFF2-40B4-BE49-F238E27FC236}">
                <a16:creationId xmlns:a16="http://schemas.microsoft.com/office/drawing/2014/main" id="{A1DB5335-C6DB-F05A-8FC5-B06A4C68EE0F}"/>
              </a:ext>
            </a:extLst>
          </p:cNvPr>
          <p:cNvGrpSpPr/>
          <p:nvPr/>
        </p:nvGrpSpPr>
        <p:grpSpPr>
          <a:xfrm>
            <a:off x="988110" y="3706847"/>
            <a:ext cx="7120890" cy="463550"/>
            <a:chOff x="2289" y="7221"/>
            <a:chExt cx="10062" cy="731"/>
          </a:xfrm>
        </p:grpSpPr>
        <p:grpSp>
          <p:nvGrpSpPr>
            <p:cNvPr id="41" name="组合 16">
              <a:extLst>
                <a:ext uri="{FF2B5EF4-FFF2-40B4-BE49-F238E27FC236}">
                  <a16:creationId xmlns:a16="http://schemas.microsoft.com/office/drawing/2014/main" id="{B08CAD75-B8B4-1536-91D7-FC455894FFC8}"/>
                </a:ext>
              </a:extLst>
            </p:cNvPr>
            <p:cNvGrpSpPr/>
            <p:nvPr/>
          </p:nvGrpSpPr>
          <p:grpSpPr>
            <a:xfrm>
              <a:off x="2334" y="7227"/>
              <a:ext cx="10017" cy="725"/>
              <a:chOff x="3324" y="4005"/>
              <a:chExt cx="9188" cy="733"/>
            </a:xfrm>
            <a:solidFill>
              <a:srgbClr val="0186D1"/>
            </a:solidFill>
          </p:grpSpPr>
          <p:sp>
            <p:nvSpPr>
              <p:cNvPr id="42" name="任意多边形 41">
                <a:extLst>
                  <a:ext uri="{FF2B5EF4-FFF2-40B4-BE49-F238E27FC236}">
                    <a16:creationId xmlns:a16="http://schemas.microsoft.com/office/drawing/2014/main" id="{6ED3221C-F4C5-4479-4D64-C69205B59548}"/>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a:extLst>
                  <a:ext uri="{FF2B5EF4-FFF2-40B4-BE49-F238E27FC236}">
                    <a16:creationId xmlns:a16="http://schemas.microsoft.com/office/drawing/2014/main" id="{27D9EEBA-2673-BADC-FA57-BB0AD00B2005}"/>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a:extLst>
                  <a:ext uri="{FF2B5EF4-FFF2-40B4-BE49-F238E27FC236}">
                    <a16:creationId xmlns:a16="http://schemas.microsoft.com/office/drawing/2014/main" id="{24F0EB0B-ACF4-D111-EBA0-3B1E321A4D8E}"/>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a:extLst>
                  <a:ext uri="{FF2B5EF4-FFF2-40B4-BE49-F238E27FC236}">
                    <a16:creationId xmlns:a16="http://schemas.microsoft.com/office/drawing/2014/main" id="{3C3117D2-2755-25EA-EDB7-BF78D9ADA1C3}"/>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a:extLst>
                <a:ext uri="{FF2B5EF4-FFF2-40B4-BE49-F238E27FC236}">
                  <a16:creationId xmlns:a16="http://schemas.microsoft.com/office/drawing/2014/main" id="{433EC719-9874-A334-D4FF-AA5A3FDA4A58}"/>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04</a:t>
              </a:r>
            </a:p>
          </p:txBody>
        </p:sp>
        <p:sp>
          <p:nvSpPr>
            <p:cNvPr id="47" name="文本框 11">
              <a:extLst>
                <a:ext uri="{FF2B5EF4-FFF2-40B4-BE49-F238E27FC236}">
                  <a16:creationId xmlns:a16="http://schemas.microsoft.com/office/drawing/2014/main" id="{9D96E4F0-23F0-E578-0E0A-E756ECC114F6}"/>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四、</a:t>
              </a:r>
              <a:r>
                <a:rPr lang="zh-CN" sz="2000" b="1" dirty="0">
                  <a:solidFill>
                    <a:schemeClr val="bg1"/>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a:extLst>
              <a:ext uri="{FF2B5EF4-FFF2-40B4-BE49-F238E27FC236}">
                <a16:creationId xmlns:a16="http://schemas.microsoft.com/office/drawing/2014/main" id="{61DFC013-3E86-394C-7BAB-60637BEFA367}"/>
              </a:ext>
            </a:extLst>
          </p:cNvPr>
          <p:cNvGrpSpPr/>
          <p:nvPr/>
        </p:nvGrpSpPr>
        <p:grpSpPr>
          <a:xfrm>
            <a:off x="991920" y="2291432"/>
            <a:ext cx="7155815" cy="464185"/>
            <a:chOff x="2316" y="4509"/>
            <a:chExt cx="10104" cy="731"/>
          </a:xfrm>
          <a:solidFill>
            <a:srgbClr val="FF0000"/>
          </a:solidFill>
        </p:grpSpPr>
        <p:grpSp>
          <p:nvGrpSpPr>
            <p:cNvPr id="34" name="组合 16">
              <a:extLst>
                <a:ext uri="{FF2B5EF4-FFF2-40B4-BE49-F238E27FC236}">
                  <a16:creationId xmlns:a16="http://schemas.microsoft.com/office/drawing/2014/main" id="{3F75F781-B3C2-3A57-287A-64AB79FDF9F8}"/>
                </a:ext>
              </a:extLst>
            </p:cNvPr>
            <p:cNvGrpSpPr/>
            <p:nvPr/>
          </p:nvGrpSpPr>
          <p:grpSpPr>
            <a:xfrm>
              <a:off x="2360" y="4515"/>
              <a:ext cx="10005" cy="725"/>
              <a:chOff x="3324" y="4005"/>
              <a:chExt cx="9188" cy="733"/>
            </a:xfrm>
            <a:grpFill/>
          </p:grpSpPr>
          <p:sp>
            <p:nvSpPr>
              <p:cNvPr id="37" name="任意多边形 36">
                <a:extLst>
                  <a:ext uri="{FF2B5EF4-FFF2-40B4-BE49-F238E27FC236}">
                    <a16:creationId xmlns:a16="http://schemas.microsoft.com/office/drawing/2014/main" id="{F0E7CA30-7901-9BB6-1EE9-B5CE54F105F8}"/>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a:extLst>
                  <a:ext uri="{FF2B5EF4-FFF2-40B4-BE49-F238E27FC236}">
                    <a16:creationId xmlns:a16="http://schemas.microsoft.com/office/drawing/2014/main" id="{387E4DC7-213A-730F-E8B4-9200466273CD}"/>
                  </a:ext>
                </a:extLst>
              </p:cNvPr>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a:extLst>
                  <a:ext uri="{FF2B5EF4-FFF2-40B4-BE49-F238E27FC236}">
                    <a16:creationId xmlns:a16="http://schemas.microsoft.com/office/drawing/2014/main" id="{1D1FEBB8-FDF5-9D41-A09F-59250593802D}"/>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a:extLst>
                  <a:ext uri="{FF2B5EF4-FFF2-40B4-BE49-F238E27FC236}">
                    <a16:creationId xmlns:a16="http://schemas.microsoft.com/office/drawing/2014/main" id="{67AF5E7E-A91F-B108-D2F4-D7E3AB02ECD7}"/>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a:extLst>
                <a:ext uri="{FF2B5EF4-FFF2-40B4-BE49-F238E27FC236}">
                  <a16:creationId xmlns:a16="http://schemas.microsoft.com/office/drawing/2014/main" id="{9C84C3AC-8CE9-CCBF-2539-B9B0038E2739}"/>
                </a:ext>
              </a:extLst>
            </p:cNvPr>
            <p:cNvSpPr txBox="1"/>
            <p:nvPr/>
          </p:nvSpPr>
          <p:spPr>
            <a:xfrm rot="2460000">
              <a:off x="2316" y="4585"/>
              <a:ext cx="791" cy="580"/>
            </a:xfrm>
            <a:prstGeom prst="rect">
              <a:avLst/>
            </a:prstGeom>
            <a:grpFill/>
          </p:spPr>
          <p:txBody>
            <a:bodyPr wrap="square" rtlCol="0">
              <a:spAutoFit/>
            </a:bodyPr>
            <a:lstStyle/>
            <a:p>
              <a:r>
                <a:rPr lang="en-US" altLang="zh-CN" sz="1800" b="1" dirty="0">
                  <a:solidFill>
                    <a:srgbClr val="FF0000"/>
                  </a:solidFill>
                  <a:latin typeface="微软雅黑" panose="020B0503020204020204" charset="-122"/>
                  <a:ea typeface="微软雅黑" panose="020B0503020204020204" charset="-122"/>
                </a:rPr>
                <a:t>02</a:t>
              </a:r>
            </a:p>
          </p:txBody>
        </p:sp>
        <p:sp>
          <p:nvSpPr>
            <p:cNvPr id="59" name="文本框 11">
              <a:extLst>
                <a:ext uri="{FF2B5EF4-FFF2-40B4-BE49-F238E27FC236}">
                  <a16:creationId xmlns:a16="http://schemas.microsoft.com/office/drawing/2014/main" id="{420AFA89-369D-4377-3E6C-9C7F55CA23B1}"/>
                </a:ext>
              </a:extLst>
            </p:cNvPr>
            <p:cNvSpPr txBox="1"/>
            <p:nvPr/>
          </p:nvSpPr>
          <p:spPr>
            <a:xfrm>
              <a:off x="3972" y="4509"/>
              <a:ext cx="8448" cy="628"/>
            </a:xfrm>
            <a:prstGeom prst="rect">
              <a:avLst/>
            </a:prstGeom>
            <a:grp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rPr>
                <a:t>二、项目适用范围及主要内容</a:t>
              </a:r>
            </a:p>
          </p:txBody>
        </p:sp>
      </p:grpSp>
      <p:grpSp>
        <p:nvGrpSpPr>
          <p:cNvPr id="17" name="组合 16">
            <a:extLst>
              <a:ext uri="{FF2B5EF4-FFF2-40B4-BE49-F238E27FC236}">
                <a16:creationId xmlns:a16="http://schemas.microsoft.com/office/drawing/2014/main" id="{FBE7C4A2-39C4-D385-87CF-493B32341A4E}"/>
              </a:ext>
            </a:extLst>
          </p:cNvPr>
          <p:cNvGrpSpPr/>
          <p:nvPr/>
        </p:nvGrpSpPr>
        <p:grpSpPr>
          <a:xfrm>
            <a:off x="991920" y="2998187"/>
            <a:ext cx="7117080" cy="464185"/>
            <a:chOff x="2316" y="5859"/>
            <a:chExt cx="10049" cy="731"/>
          </a:xfrm>
        </p:grpSpPr>
        <p:grpSp>
          <p:nvGrpSpPr>
            <p:cNvPr id="60" name="组合 16">
              <a:extLst>
                <a:ext uri="{FF2B5EF4-FFF2-40B4-BE49-F238E27FC236}">
                  <a16:creationId xmlns:a16="http://schemas.microsoft.com/office/drawing/2014/main" id="{1A51683D-BB14-8227-5D35-E06A1615F074}"/>
                </a:ext>
              </a:extLst>
            </p:cNvPr>
            <p:cNvGrpSpPr/>
            <p:nvPr/>
          </p:nvGrpSpPr>
          <p:grpSpPr>
            <a:xfrm>
              <a:off x="2360" y="5865"/>
              <a:ext cx="10005" cy="725"/>
              <a:chOff x="3324" y="4005"/>
              <a:chExt cx="9188" cy="733"/>
            </a:xfrm>
            <a:solidFill>
              <a:srgbClr val="0186D1"/>
            </a:solidFill>
          </p:grpSpPr>
          <p:sp>
            <p:nvSpPr>
              <p:cNvPr id="61" name="任意多边形 60">
                <a:extLst>
                  <a:ext uri="{FF2B5EF4-FFF2-40B4-BE49-F238E27FC236}">
                    <a16:creationId xmlns:a16="http://schemas.microsoft.com/office/drawing/2014/main" id="{BED9567B-1C50-5617-5063-76CACF03BF6F}"/>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a:extLst>
                  <a:ext uri="{FF2B5EF4-FFF2-40B4-BE49-F238E27FC236}">
                    <a16:creationId xmlns:a16="http://schemas.microsoft.com/office/drawing/2014/main" id="{C46B5547-893B-A882-2E25-70155EAF58D8}"/>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a:extLst>
                  <a:ext uri="{FF2B5EF4-FFF2-40B4-BE49-F238E27FC236}">
                    <a16:creationId xmlns:a16="http://schemas.microsoft.com/office/drawing/2014/main" id="{B5B762EE-A0A3-0C19-03CE-25B5787E9BC9}"/>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a:extLst>
                  <a:ext uri="{FF2B5EF4-FFF2-40B4-BE49-F238E27FC236}">
                    <a16:creationId xmlns:a16="http://schemas.microsoft.com/office/drawing/2014/main" id="{EB0D578F-738C-127D-00D0-9D88843BD52E}"/>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a:extLst>
                <a:ext uri="{FF2B5EF4-FFF2-40B4-BE49-F238E27FC236}">
                  <a16:creationId xmlns:a16="http://schemas.microsoft.com/office/drawing/2014/main" id="{E93FA7CE-BFAE-CB36-2E4B-309784A0705E}"/>
                </a:ext>
              </a:extLst>
            </p:cNvPr>
            <p:cNvSpPr txBox="1"/>
            <p:nvPr/>
          </p:nvSpPr>
          <p:spPr>
            <a:xfrm rot="2460000">
              <a:off x="2316" y="593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03</a:t>
              </a:r>
            </a:p>
          </p:txBody>
        </p:sp>
        <p:sp>
          <p:nvSpPr>
            <p:cNvPr id="66" name="文本框 11">
              <a:extLst>
                <a:ext uri="{FF2B5EF4-FFF2-40B4-BE49-F238E27FC236}">
                  <a16:creationId xmlns:a16="http://schemas.microsoft.com/office/drawing/2014/main" id="{A7DD8FCB-6B17-AB94-7560-6AE4C899139A}"/>
                </a:ext>
              </a:extLst>
            </p:cNvPr>
            <p:cNvSpPr txBox="1"/>
            <p:nvPr/>
          </p:nvSpPr>
          <p:spPr>
            <a:xfrm>
              <a:off x="3976" y="5859"/>
              <a:ext cx="7487" cy="628"/>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三、项目制定过程</a:t>
              </a:r>
            </a:p>
          </p:txBody>
        </p:sp>
      </p:grpSp>
      <p:grpSp>
        <p:nvGrpSpPr>
          <p:cNvPr id="19" name="组合 18">
            <a:extLst>
              <a:ext uri="{FF2B5EF4-FFF2-40B4-BE49-F238E27FC236}">
                <a16:creationId xmlns:a16="http://schemas.microsoft.com/office/drawing/2014/main" id="{70FDCF67-4962-1725-EA4D-EE0DC1224420}"/>
              </a:ext>
            </a:extLst>
          </p:cNvPr>
          <p:cNvGrpSpPr/>
          <p:nvPr/>
        </p:nvGrpSpPr>
        <p:grpSpPr>
          <a:xfrm>
            <a:off x="988110" y="4411697"/>
            <a:ext cx="7120255" cy="464185"/>
            <a:chOff x="2263" y="8438"/>
            <a:chExt cx="10062" cy="731"/>
          </a:xfrm>
        </p:grpSpPr>
        <p:grpSp>
          <p:nvGrpSpPr>
            <p:cNvPr id="3" name="组合 16">
              <a:extLst>
                <a:ext uri="{FF2B5EF4-FFF2-40B4-BE49-F238E27FC236}">
                  <a16:creationId xmlns:a16="http://schemas.microsoft.com/office/drawing/2014/main" id="{925BE79A-67BD-9F1A-738C-26A827254F74}"/>
                </a:ext>
              </a:extLst>
            </p:cNvPr>
            <p:cNvGrpSpPr/>
            <p:nvPr/>
          </p:nvGrpSpPr>
          <p:grpSpPr>
            <a:xfrm>
              <a:off x="2308" y="8444"/>
              <a:ext cx="10017" cy="725"/>
              <a:chOff x="3324" y="4005"/>
              <a:chExt cx="9188" cy="733"/>
            </a:xfrm>
            <a:solidFill>
              <a:srgbClr val="0186D1"/>
            </a:solidFill>
          </p:grpSpPr>
          <p:sp>
            <p:nvSpPr>
              <p:cNvPr id="7" name="任意多边形 6">
                <a:extLst>
                  <a:ext uri="{FF2B5EF4-FFF2-40B4-BE49-F238E27FC236}">
                    <a16:creationId xmlns:a16="http://schemas.microsoft.com/office/drawing/2014/main" id="{5B26203B-53A1-97B9-030D-D84CBA277AEA}"/>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a:extLst>
                  <a:ext uri="{FF2B5EF4-FFF2-40B4-BE49-F238E27FC236}">
                    <a16:creationId xmlns:a16="http://schemas.microsoft.com/office/drawing/2014/main" id="{FDC50353-8E78-DB26-5C0E-71D77FF4654B}"/>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a:extLst>
                  <a:ext uri="{FF2B5EF4-FFF2-40B4-BE49-F238E27FC236}">
                    <a16:creationId xmlns:a16="http://schemas.microsoft.com/office/drawing/2014/main" id="{B154FA6E-08DD-9B25-751C-A9EE05D2B0F4}"/>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a:extLst>
                  <a:ext uri="{FF2B5EF4-FFF2-40B4-BE49-F238E27FC236}">
                    <a16:creationId xmlns:a16="http://schemas.microsoft.com/office/drawing/2014/main" id="{9628D8A2-9456-ED2A-4296-EA0A524B059D}"/>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a:extLst>
                <a:ext uri="{FF2B5EF4-FFF2-40B4-BE49-F238E27FC236}">
                  <a16:creationId xmlns:a16="http://schemas.microsoft.com/office/drawing/2014/main" id="{1AC2AD1C-559E-4C11-B589-C7DC9F8BBAD9}"/>
                </a:ext>
              </a:extLst>
            </p:cNvPr>
            <p:cNvSpPr txBox="1"/>
            <p:nvPr/>
          </p:nvSpPr>
          <p:spPr>
            <a:xfrm rot="2460000">
              <a:off x="2263" y="8515"/>
              <a:ext cx="782"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05</a:t>
              </a:r>
            </a:p>
          </p:txBody>
        </p:sp>
        <p:sp>
          <p:nvSpPr>
            <p:cNvPr id="14" name="文本框 11">
              <a:extLst>
                <a:ext uri="{FF2B5EF4-FFF2-40B4-BE49-F238E27FC236}">
                  <a16:creationId xmlns:a16="http://schemas.microsoft.com/office/drawing/2014/main" id="{30BE82A5-4312-05F9-99F2-DC362EE7E40E}"/>
                </a:ext>
              </a:extLst>
            </p:cNvPr>
            <p:cNvSpPr txBox="1"/>
            <p:nvPr/>
          </p:nvSpPr>
          <p:spPr>
            <a:xfrm>
              <a:off x="3928" y="8438"/>
              <a:ext cx="7637"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a:extLst>
              <a:ext uri="{FF2B5EF4-FFF2-40B4-BE49-F238E27FC236}">
                <a16:creationId xmlns:a16="http://schemas.microsoft.com/office/drawing/2014/main" id="{87182787-40E6-EF3D-32AE-435B591DE054}"/>
              </a:ext>
            </a:extLst>
          </p:cNvPr>
          <p:cNvGrpSpPr/>
          <p:nvPr/>
        </p:nvGrpSpPr>
        <p:grpSpPr>
          <a:xfrm>
            <a:off x="971600" y="5053682"/>
            <a:ext cx="7120890" cy="463550"/>
            <a:chOff x="2289" y="7221"/>
            <a:chExt cx="10062" cy="731"/>
          </a:xfrm>
        </p:grpSpPr>
        <p:grpSp>
          <p:nvGrpSpPr>
            <p:cNvPr id="21" name="组合 16">
              <a:extLst>
                <a:ext uri="{FF2B5EF4-FFF2-40B4-BE49-F238E27FC236}">
                  <a16:creationId xmlns:a16="http://schemas.microsoft.com/office/drawing/2014/main" id="{A0DF1FA0-5B3B-4D26-84F1-B924F1DA517F}"/>
                </a:ext>
              </a:extLst>
            </p:cNvPr>
            <p:cNvGrpSpPr/>
            <p:nvPr/>
          </p:nvGrpSpPr>
          <p:grpSpPr>
            <a:xfrm>
              <a:off x="2334" y="7227"/>
              <a:ext cx="10017" cy="725"/>
              <a:chOff x="3324" y="4005"/>
              <a:chExt cx="9188" cy="733"/>
            </a:xfrm>
            <a:solidFill>
              <a:srgbClr val="0186D1"/>
            </a:solidFill>
          </p:grpSpPr>
          <p:sp>
            <p:nvSpPr>
              <p:cNvPr id="23" name="任意多边形 22">
                <a:extLst>
                  <a:ext uri="{FF2B5EF4-FFF2-40B4-BE49-F238E27FC236}">
                    <a16:creationId xmlns:a16="http://schemas.microsoft.com/office/drawing/2014/main" id="{97813629-FAB5-4802-AB79-4944ACB563BB}"/>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a:extLst>
                  <a:ext uri="{FF2B5EF4-FFF2-40B4-BE49-F238E27FC236}">
                    <a16:creationId xmlns:a16="http://schemas.microsoft.com/office/drawing/2014/main" id="{2C913FA0-69D4-C25F-1507-5F7CF6272EBA}"/>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a:extLst>
                  <a:ext uri="{FF2B5EF4-FFF2-40B4-BE49-F238E27FC236}">
                    <a16:creationId xmlns:a16="http://schemas.microsoft.com/office/drawing/2014/main" id="{D0A928F1-24E2-C6B9-D8FF-59C700512764}"/>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a:extLst>
                  <a:ext uri="{FF2B5EF4-FFF2-40B4-BE49-F238E27FC236}">
                    <a16:creationId xmlns:a16="http://schemas.microsoft.com/office/drawing/2014/main" id="{181C5B6F-6B92-7BD4-FA90-C37A87C5E0F2}"/>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a:extLst>
                <a:ext uri="{FF2B5EF4-FFF2-40B4-BE49-F238E27FC236}">
                  <a16:creationId xmlns:a16="http://schemas.microsoft.com/office/drawing/2014/main" id="{F9793F6F-F237-6A7B-1320-951C5F8C299F}"/>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06</a:t>
              </a:r>
            </a:p>
          </p:txBody>
        </p:sp>
        <p:sp>
          <p:nvSpPr>
            <p:cNvPr id="28" name="文本框 11">
              <a:extLst>
                <a:ext uri="{FF2B5EF4-FFF2-40B4-BE49-F238E27FC236}">
                  <a16:creationId xmlns:a16="http://schemas.microsoft.com/office/drawing/2014/main" id="{11CCF902-5813-072F-BC32-CBB70E270E2C}"/>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六、</a:t>
              </a:r>
              <a:r>
                <a:rPr lang="zh-CN" altLang="en-US" sz="2000" b="1" dirty="0">
                  <a:solidFill>
                    <a:schemeClr val="bg1"/>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4017107447"/>
      </p:ext>
    </p:extLst>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915816" y="188640"/>
            <a:ext cx="4852610"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ym typeface="+mn-ea"/>
              </a:rPr>
              <a:t/>
            </a:r>
            <a:r>
              <a:rPr sz="2800" b="1">
                <a:solidFill>
                  <a:srgbClr val="FFFFFF"/>
                </a:solidFill>
                <a:latin typeface="微软雅黑"/>
                <a:ea typeface="微软雅黑"/>
              </a:rPr>
              <a:t>二、项目适用范围及主要内容</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2" name="文本框 1">
            <a:extLst>
              <a:ext uri="{FF2B5EF4-FFF2-40B4-BE49-F238E27FC236}">
                <a16:creationId xmlns:a16="http://schemas.microsoft.com/office/drawing/2014/main" id="{FB626184-4745-242D-0DB1-7491C9F8464A}"/>
              </a:ext>
            </a:extLst>
          </p:cNvPr>
          <p:cNvSpPr txBox="1"/>
          <p:nvPr/>
        </p:nvSpPr>
        <p:spPr>
          <a:xfrm>
            <a:off x="445135" y="953276"/>
            <a:ext cx="1840308"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rPr>
              <a:t/>
            </a:r>
            <a:r>
              <a:rPr sz="2400" b="1">
                <a:solidFill>
                  <a:srgbClr val="FFFFFF"/>
                </a:solidFill>
                <a:latin typeface="微软雅黑"/>
                <a:ea typeface="微软雅黑"/>
              </a:rPr>
              <a:t>适用范围</a:t>
            </a:r>
          </a:p>
        </p:txBody>
      </p:sp>
      <p:sp>
        <p:nvSpPr>
          <p:cNvPr id="3" name="Rectangle 1">
            <a:extLst>
              <a:ext uri="{FF2B5EF4-FFF2-40B4-BE49-F238E27FC236}">
                <a16:creationId xmlns:a16="http://schemas.microsoft.com/office/drawing/2014/main" id="{BD27F3CB-6504-3591-FD90-B1C8A8A03216}"/>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本标准适用于医用呼吸机中</a:t>
            </a:r>
            <a:r>
              <a:rPr sz="2000" b="1">
                <a:solidFill>
                  <a:srgbClr val="FF0000"/>
                </a:solidFill>
                <a:latin typeface="微软雅黑"/>
                <a:ea typeface="微软雅黑"/>
              </a:rPr>
              <a:t>气源压力监测用表压传感器</a:t>
            </a:r>
            <a:r>
              <a:rPr sz="2000" b="1">
                <a:solidFill>
                  <a:srgbClr val="0070C0"/>
                </a:solidFill>
                <a:latin typeface="微软雅黑"/>
                <a:ea typeface="微软雅黑"/>
              </a:rPr>
              <a:t>、</a:t>
            </a:r>
            <a:r>
              <a:rPr sz="2000" b="1">
                <a:solidFill>
                  <a:srgbClr val="FF0000"/>
                </a:solidFill>
                <a:latin typeface="微软雅黑"/>
                <a:ea typeface="微软雅黑"/>
              </a:rPr>
              <a:t>气道压力监测用表压传感器</a:t>
            </a:r>
            <a:r>
              <a:rPr sz="2000" b="1">
                <a:solidFill>
                  <a:srgbClr val="0070C0"/>
                </a:solidFill>
                <a:latin typeface="微软雅黑"/>
                <a:ea typeface="微软雅黑"/>
              </a:rPr>
              <a:t>、</a:t>
            </a:r>
            <a:r>
              <a:rPr sz="2000" b="1">
                <a:solidFill>
                  <a:srgbClr val="FF0000"/>
                </a:solidFill>
                <a:latin typeface="微软雅黑"/>
                <a:ea typeface="微软雅黑"/>
              </a:rPr>
              <a:t>大气压力监测用绝压传感器</a:t>
            </a:r>
            <a:r>
              <a:rPr sz="2000" b="1">
                <a:solidFill>
                  <a:srgbClr val="0070C0"/>
                </a:solidFill>
                <a:latin typeface="微软雅黑"/>
                <a:ea typeface="微软雅黑"/>
              </a:rPr>
              <a:t>以及</a:t>
            </a:r>
            <a:r>
              <a:rPr sz="2000" b="1">
                <a:solidFill>
                  <a:srgbClr val="FF0000"/>
                </a:solidFill>
                <a:latin typeface="微软雅黑"/>
                <a:ea typeface="微软雅黑"/>
              </a:rPr>
              <a:t>呼气端流量监测用差压传感器</a:t>
            </a:r>
            <a:r>
              <a:rPr sz="2000" b="1">
                <a:solidFill>
                  <a:srgbClr val="0070C0"/>
                </a:solidFill>
                <a:latin typeface="微软雅黑"/>
                <a:ea typeface="微软雅黑"/>
              </a:rPr>
              <a:t>等产品的设计、制造和应用。</a:t>
            </a:r>
          </a:p>
        </p:txBody>
      </p:sp>
      <p:pic>
        <p:nvPicPr>
          <p:cNvPr id="48" name="Picture 47" descr="Slide6-标准适用范围图.jpg"/>
          <p:cNvPicPr>
            <a:picLocks noChangeAspect="1"/>
          </p:cNvPicPr>
          <p:nvPr/>
        </p:nvPicPr>
        <p:blipFill>
          <a:blip r:embed="rId3"/>
          <a:stretch>
            <a:fillRect/>
          </a:stretch>
        </p:blipFill>
        <p:spPr>
          <a:xfrm>
            <a:off x="469116" y="3085953"/>
            <a:ext cx="8093672" cy="32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7" name="文本框 6"/>
          <p:cNvSpPr txBox="1"/>
          <p:nvPr/>
        </p:nvSpPr>
        <p:spPr>
          <a:xfrm>
            <a:off x="395536" y="921101"/>
            <a:ext cx="1656184"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主要内容</a:t>
            </a:r>
            <a:endParaRPr lang="zh-CN" altLang="en-US" sz="2400" b="1" dirty="0">
              <a:solidFill>
                <a:schemeClr val="bg1"/>
              </a:solidFill>
              <a:latin typeface="微软雅黑" panose="020B0503020204020204" charset="-122"/>
              <a:ea typeface="微软雅黑" panose="020B0503020204020204" charset="-122"/>
            </a:endParaRPr>
          </a:p>
        </p:txBody>
      </p:sp>
      <p:sp>
        <p:nvSpPr>
          <p:cNvPr id="2" name="标题 7">
            <a:extLst>
              <a:ext uri="{FF2B5EF4-FFF2-40B4-BE49-F238E27FC236}">
                <a16:creationId xmlns:a16="http://schemas.microsoft.com/office/drawing/2014/main" id="{3B6B2AE6-9EC3-C140-4981-8BCF52953D74}"/>
              </a:ext>
            </a:extLst>
          </p:cNvPr>
          <p:cNvSpPr txBox="1"/>
          <p:nvPr/>
        </p:nvSpPr>
        <p:spPr>
          <a:xfrm>
            <a:off x="2915816" y="188640"/>
            <a:ext cx="4852610"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ym typeface="+mn-ea"/>
              </a:rPr>
              <a:t/>
            </a:r>
            <a:r>
              <a:rPr sz="2800" b="1">
                <a:solidFill>
                  <a:srgbClr val="FFFFFF"/>
                </a:solidFill>
                <a:latin typeface="微软雅黑"/>
                <a:ea typeface="微软雅黑"/>
              </a:rPr>
              <a:t>二、项目适用范围及主要内容</a:t>
            </a:r>
            <a:endParaRPr sz="2800" b="1" dirty="0"/>
          </a:p>
        </p:txBody>
      </p:sp>
      <p:sp>
        <p:nvSpPr>
          <p:cNvPr id="3" name="Rectangle 1">
            <a:extLst>
              <a:ext uri="{FF2B5EF4-FFF2-40B4-BE49-F238E27FC236}">
                <a16:creationId xmlns:a16="http://schemas.microsoft.com/office/drawing/2014/main" id="{95DC153E-5C4B-143F-1138-1B3FE0712326}"/>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本标准包含</a:t>
            </a:r>
            <a:r>
              <a:rPr sz="2000" b="1">
                <a:solidFill>
                  <a:srgbClr val="FF0000"/>
                </a:solidFill>
                <a:latin typeface="微软雅黑"/>
                <a:ea typeface="微软雅黑"/>
              </a:rPr>
              <a:t>9个章节</a:t>
            </a:r>
            <a:r>
              <a:rPr sz="2000" b="1">
                <a:solidFill>
                  <a:srgbClr val="0070C0"/>
                </a:solidFill>
                <a:latin typeface="微软雅黑"/>
                <a:ea typeface="微软雅黑"/>
              </a:rPr>
              <a:t>：范围、规范性引用文件、术语和定义、产品分类、通用要求、技术要求、试验方法、检验规则及标志包装运输贮存，涵盖从产品分类到检验规则的完整技术体系。</a:t>
            </a:r>
          </a:p>
        </p:txBody>
      </p:sp>
      <p:graphicFrame>
        <p:nvGraphicFramePr>
          <p:cNvPr id="9" name="Table 8"/>
          <p:cNvGraphicFramePr>
            <a:graphicFrameLocks noGrp="1"/>
          </p:cNvGraphicFramePr>
          <p:nvPr/>
        </p:nvGraphicFramePr>
        <p:xfrm>
          <a:off x="422001" y="3100000"/>
          <a:ext cx="8299998" cy="3100000"/>
        </p:xfrm>
        <a:graphic>
          <a:graphicData uri="http://schemas.openxmlformats.org/drawingml/2006/table">
            <a:tbl>
              <a:tblPr firstRow="1" bandRow="0" lastRow="0" bandCol="0">
                <a:tableStyleId>{5C22544A-7EE6-4342-B048-85BDC9FD1C3A}</a:tableStyleId>
              </a:tblPr>
              <a:tblGrid>
                <a:gridCol w="4149999"/>
                <a:gridCol w="4149999"/>
              </a:tblGrid>
              <a:tr h="310000">
                <a:tc>
                  <a:txBody>
                    <a:bodyPr/>
                    <a:lstStyle/>
                    <a:p>
                      <a:pPr algn="ctr"/>
                      <a:r>
                        <a:rPr sz="1400" b="1">
                          <a:solidFill>
                            <a:srgbClr val="FFFFFF"/>
                          </a:solidFill>
                          <a:latin typeface="微软雅黑"/>
                          <a:ea typeface="微软雅黑"/>
                        </a:rPr>
                        <a:t>章节号</a:t>
                      </a:r>
                    </a:p>
                  </a:txBody>
                  <a:tcPr anchor="ctr">
                    <a:solidFill>
                      <a:srgbClr val="0070C0"/>
                    </a:solidFill>
                  </a:tcPr>
                </a:tc>
                <a:tc>
                  <a:txBody>
                    <a:bodyPr/>
                    <a:lstStyle/>
                    <a:p>
                      <a:pPr algn="ctr"/>
                      <a:r>
                        <a:rPr sz="1400" b="1">
                          <a:solidFill>
                            <a:srgbClr val="FFFFFF"/>
                          </a:solidFill>
                          <a:latin typeface="微软雅黑"/>
                          <a:ea typeface="微软雅黑"/>
                        </a:rPr>
                        <a:t>章节名称及主要内容概述</a:t>
                      </a:r>
                    </a:p>
                  </a:txBody>
                  <a:tcPr anchor="ctr">
                    <a:solidFill>
                      <a:srgbClr val="0070C0"/>
                    </a:solidFill>
                  </a:tcPr>
                </a:tc>
              </a:tr>
              <a:tr h="310000">
                <a:tc>
                  <a:txBody>
                    <a:bodyPr/>
                    <a:lstStyle/>
                    <a:p>
                      <a:pPr algn="l"/>
                      <a:r>
                        <a:rPr sz="1200" b="0">
                          <a:solidFill>
                            <a:srgbClr val="000000"/>
                          </a:solidFill>
                          <a:latin typeface="微软雅黑"/>
                          <a:ea typeface="微软雅黑"/>
                        </a:rPr>
                        <a:t>1</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范围：适用于医用呼吸机四类压力传感器</a:t>
                      </a:r>
                    </a:p>
                  </a:txBody>
                  <a:tcPr anchor="ctr" marL="91440" marR="91440" marT="45720" marB="45720">
                    <a:solidFill>
                      <a:srgbClr val="D9E2F3"/>
                    </a:solidFill>
                  </a:tcPr>
                </a:tc>
              </a:tr>
              <a:tr h="310000">
                <a:tc>
                  <a:txBody>
                    <a:bodyPr/>
                    <a:lstStyle/>
                    <a:p>
                      <a:pPr algn="l"/>
                      <a:r>
                        <a:rPr sz="1200" b="0">
                          <a:solidFill>
                            <a:srgbClr val="000000"/>
                          </a:solidFill>
                          <a:latin typeface="微软雅黑"/>
                          <a:ea typeface="微软雅黑"/>
                        </a:rPr>
                        <a:t>2</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规范性引用文件：GB/T 191、GB/T 7665、GB/T 14710、GB/T 15478等10项标准</a:t>
                      </a:r>
                    </a:p>
                  </a:txBody>
                  <a:tcPr anchor="ctr" marL="91440" marR="91440" marT="45720" marB="45720">
                    <a:solidFill>
                      <a:srgbClr val="FFFFFF"/>
                    </a:solidFill>
                  </a:tcPr>
                </a:tc>
              </a:tr>
              <a:tr h="310000">
                <a:tc>
                  <a:txBody>
                    <a:bodyPr/>
                    <a:lstStyle/>
                    <a:p>
                      <a:pPr algn="l"/>
                      <a:r>
                        <a:rPr sz="1200" b="0">
                          <a:solidFill>
                            <a:srgbClr val="000000"/>
                          </a:solidFill>
                          <a:latin typeface="微软雅黑"/>
                          <a:ea typeface="微软雅黑"/>
                        </a:rPr>
                        <a:t>3</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术语和定义：压力传感器、绝压/表压/差压传感器、满量程输出等9个术语</a:t>
                      </a:r>
                    </a:p>
                  </a:txBody>
                  <a:tcPr anchor="ctr" marL="91440" marR="91440" marT="45720" marB="45720">
                    <a:solidFill>
                      <a:srgbClr val="D9E2F3"/>
                    </a:solidFill>
                  </a:tcPr>
                </a:tc>
              </a:tr>
              <a:tr h="310000">
                <a:tc>
                  <a:txBody>
                    <a:bodyPr/>
                    <a:lstStyle/>
                    <a:p>
                      <a:pPr algn="l"/>
                      <a:r>
                        <a:rPr sz="1200" b="0">
                          <a:solidFill>
                            <a:srgbClr val="000000"/>
                          </a:solidFill>
                          <a:latin typeface="微软雅黑"/>
                          <a:ea typeface="微软雅黑"/>
                        </a:rPr>
                        <a:t>4</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产品分类：按感受压力类型/输出信号类型/封装方式分类</a:t>
                      </a:r>
                    </a:p>
                  </a:txBody>
                  <a:tcPr anchor="ctr" marL="91440" marR="91440" marT="45720" marB="45720">
                    <a:solidFill>
                      <a:srgbClr val="FFFFFF"/>
                    </a:solidFill>
                  </a:tcPr>
                </a:tc>
              </a:tr>
              <a:tr h="310000">
                <a:tc>
                  <a:txBody>
                    <a:bodyPr/>
                    <a:lstStyle/>
                    <a:p>
                      <a:pPr algn="l"/>
                      <a:r>
                        <a:rPr sz="1200" b="0">
                          <a:solidFill>
                            <a:srgbClr val="000000"/>
                          </a:solidFill>
                          <a:latin typeface="微软雅黑"/>
                          <a:ea typeface="微软雅黑"/>
                        </a:rPr>
                        <a:t>5</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通用要求：安全性、替代设备、材料（含氧气兼容性、RoHS、生物学评价）</a:t>
                      </a:r>
                    </a:p>
                  </a:txBody>
                  <a:tcPr anchor="ctr" marL="91440" marR="91440" marT="45720" marB="45720">
                    <a:solidFill>
                      <a:srgbClr val="D9E2F3"/>
                    </a:solidFill>
                  </a:tcPr>
                </a:tc>
              </a:tr>
              <a:tr h="310000">
                <a:tc>
                  <a:txBody>
                    <a:bodyPr/>
                    <a:lstStyle/>
                    <a:p>
                      <a:pPr algn="l"/>
                      <a:r>
                        <a:rPr sz="1200" b="0">
                          <a:solidFill>
                            <a:srgbClr val="000000"/>
                          </a:solidFill>
                          <a:latin typeface="微软雅黑"/>
                          <a:ea typeface="微软雅黑"/>
                        </a:rPr>
                        <a:t>6</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技术要求：环境条件、供电、测量范围、电气/静态/稳定性/过载/动态/环境/EMC/寿命</a:t>
                      </a:r>
                    </a:p>
                  </a:txBody>
                  <a:tcPr anchor="ctr" marL="91440" marR="91440" marT="45720" marB="45720">
                    <a:solidFill>
                      <a:srgbClr val="FFFFFF"/>
                    </a:solidFill>
                  </a:tcPr>
                </a:tc>
              </a:tr>
              <a:tr h="310000">
                <a:tc>
                  <a:txBody>
                    <a:bodyPr/>
                    <a:lstStyle/>
                    <a:p>
                      <a:pPr algn="l"/>
                      <a:r>
                        <a:rPr sz="1200" b="0">
                          <a:solidFill>
                            <a:srgbClr val="000000"/>
                          </a:solidFill>
                          <a:latin typeface="微软雅黑"/>
                          <a:ea typeface="微软雅黑"/>
                        </a:rPr>
                        <a:t>7</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试验方法：与技术要求各项一一对应的试验方法</a:t>
                      </a:r>
                    </a:p>
                  </a:txBody>
                  <a:tcPr anchor="ctr" marL="91440" marR="91440" marT="45720" marB="45720">
                    <a:solidFill>
                      <a:srgbClr val="D9E2F3"/>
                    </a:solidFill>
                  </a:tcPr>
                </a:tc>
              </a:tr>
              <a:tr h="310000">
                <a:tc>
                  <a:txBody>
                    <a:bodyPr/>
                    <a:lstStyle/>
                    <a:p>
                      <a:pPr algn="l"/>
                      <a:r>
                        <a:rPr sz="1200" b="0">
                          <a:solidFill>
                            <a:srgbClr val="000000"/>
                          </a:solidFill>
                          <a:latin typeface="微软雅黑"/>
                          <a:ea typeface="微软雅黑"/>
                        </a:rPr>
                        <a:t>8</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检验规则：出厂检验与型式检验，B/C类不合格分类判定</a:t>
                      </a:r>
                    </a:p>
                  </a:txBody>
                  <a:tcPr anchor="ctr" marL="91440" marR="91440" marT="45720" marB="45720">
                    <a:solidFill>
                      <a:srgbClr val="FFFFFF"/>
                    </a:solidFill>
                  </a:tcPr>
                </a:tc>
              </a:tr>
              <a:tr h="310000">
                <a:tc>
                  <a:txBody>
                    <a:bodyPr/>
                    <a:lstStyle/>
                    <a:p>
                      <a:pPr algn="l"/>
                      <a:r>
                        <a:rPr sz="1200" b="0">
                          <a:solidFill>
                            <a:srgbClr val="000000"/>
                          </a:solidFill>
                          <a:latin typeface="微软雅黑"/>
                          <a:ea typeface="微软雅黑"/>
                        </a:rPr>
                        <a:t>9</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标志、包装、运输和贮存：产品标志内容、包装防护、运输贮存条件</a:t>
                      </a:r>
                    </a:p>
                  </a:txBody>
                  <a:tcPr anchor="ctr" marL="91440" marR="91440" marT="45720" marB="45720">
                    <a:solidFill>
                      <a:srgbClr val="D9E2F3"/>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2ABCF-4FCF-B93E-175E-02684D167C7F}"/>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888382EE-85F9-2435-AD6D-52CCF99470EA}"/>
              </a:ext>
            </a:extLst>
          </p:cNvPr>
          <p:cNvGrpSpPr/>
          <p:nvPr/>
        </p:nvGrpSpPr>
        <p:grpSpPr>
          <a:xfrm>
            <a:off x="994460" y="1584042"/>
            <a:ext cx="7113905" cy="471805"/>
            <a:chOff x="2323" y="3083"/>
            <a:chExt cx="10043" cy="725"/>
          </a:xfrm>
        </p:grpSpPr>
        <p:grpSp>
          <p:nvGrpSpPr>
            <p:cNvPr id="2" name="组合 35">
              <a:extLst>
                <a:ext uri="{FF2B5EF4-FFF2-40B4-BE49-F238E27FC236}">
                  <a16:creationId xmlns:a16="http://schemas.microsoft.com/office/drawing/2014/main" id="{C0E67FB7-FEF3-F734-E924-DD4280B7BDB3}"/>
                </a:ext>
              </a:extLst>
            </p:cNvPr>
            <p:cNvGrpSpPr/>
            <p:nvPr/>
          </p:nvGrpSpPr>
          <p:grpSpPr>
            <a:xfrm>
              <a:off x="2353" y="3083"/>
              <a:ext cx="10013" cy="725"/>
              <a:chOff x="3324" y="4005"/>
              <a:chExt cx="9188" cy="733"/>
            </a:xfrm>
            <a:solidFill>
              <a:srgbClr val="0186D1"/>
            </a:solidFill>
          </p:grpSpPr>
          <p:sp>
            <p:nvSpPr>
              <p:cNvPr id="4" name="任意多边形 3">
                <a:extLst>
                  <a:ext uri="{FF2B5EF4-FFF2-40B4-BE49-F238E27FC236}">
                    <a16:creationId xmlns:a16="http://schemas.microsoft.com/office/drawing/2014/main" id="{9E1A9DEC-A1C9-1719-ADC5-6E9EB04F5434}"/>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a:extLst>
                  <a:ext uri="{FF2B5EF4-FFF2-40B4-BE49-F238E27FC236}">
                    <a16:creationId xmlns:a16="http://schemas.microsoft.com/office/drawing/2014/main" id="{179236B1-17A7-4875-D698-D5AEF6485CF9}"/>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a:extLst>
                  <a:ext uri="{FF2B5EF4-FFF2-40B4-BE49-F238E27FC236}">
                    <a16:creationId xmlns:a16="http://schemas.microsoft.com/office/drawing/2014/main" id="{E3A3E175-1D55-208A-5F91-A733C9DB3E2B}"/>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a:extLst>
                  <a:ext uri="{FF2B5EF4-FFF2-40B4-BE49-F238E27FC236}">
                    <a16:creationId xmlns:a16="http://schemas.microsoft.com/office/drawing/2014/main" id="{0D47958C-0CF0-7C6C-BD15-112547E616D1}"/>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a:extLst>
                <a:ext uri="{FF2B5EF4-FFF2-40B4-BE49-F238E27FC236}">
                  <a16:creationId xmlns:a16="http://schemas.microsoft.com/office/drawing/2014/main" id="{6A9F1939-DB9E-43C1-E237-EC420D6A9FF7}"/>
                </a:ext>
              </a:extLst>
            </p:cNvPr>
            <p:cNvSpPr txBox="1"/>
            <p:nvPr/>
          </p:nvSpPr>
          <p:spPr>
            <a:xfrm>
              <a:off x="3910" y="3083"/>
              <a:ext cx="8183" cy="613"/>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a:extLst>
                <a:ext uri="{FF2B5EF4-FFF2-40B4-BE49-F238E27FC236}">
                  <a16:creationId xmlns:a16="http://schemas.microsoft.com/office/drawing/2014/main" id="{9C689328-76F4-6FD8-E8EB-20AB6FEEFEA2}"/>
                </a:ext>
              </a:extLst>
            </p:cNvPr>
            <p:cNvSpPr txBox="1"/>
            <p:nvPr/>
          </p:nvSpPr>
          <p:spPr>
            <a:xfrm rot="2460000">
              <a:off x="2323" y="3141"/>
              <a:ext cx="846" cy="566"/>
            </a:xfrm>
            <a:prstGeom prst="rect">
              <a:avLst/>
            </a:prstGeom>
            <a:noFill/>
          </p:spPr>
          <p:txBody>
            <a:bodyPr wrap="square" rtlCol="0">
              <a:spAutoFit/>
            </a:bodyPr>
            <a:lstStyle/>
            <a:p>
              <a:r>
                <a:rPr lang="en-US" altLang="zh-CN" sz="1800" b="1">
                  <a:solidFill>
                    <a:schemeClr val="bg1"/>
                  </a:solidFill>
                  <a:latin typeface="微软雅黑" panose="020B0503020204020204" charset="-122"/>
                  <a:ea typeface="微软雅黑" panose="020B0503020204020204" charset="-122"/>
                </a:rPr>
                <a:t>01</a:t>
              </a:r>
            </a:p>
          </p:txBody>
        </p:sp>
      </p:grpSp>
      <p:sp>
        <p:nvSpPr>
          <p:cNvPr id="8" name="标题 7">
            <a:extLst>
              <a:ext uri="{FF2B5EF4-FFF2-40B4-BE49-F238E27FC236}">
                <a16:creationId xmlns:a16="http://schemas.microsoft.com/office/drawing/2014/main" id="{1BD61EAC-D88A-8F27-3054-638726C09D4C}"/>
              </a:ext>
            </a:extLst>
          </p:cNvPr>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a:extLst>
              <a:ext uri="{FF2B5EF4-FFF2-40B4-BE49-F238E27FC236}">
                <a16:creationId xmlns:a16="http://schemas.microsoft.com/office/drawing/2014/main" id="{5B6670A4-7794-BD69-AA39-DD9CD0DCCD6D}"/>
              </a:ext>
            </a:extLst>
          </p:cNvPr>
          <p:cNvGrpSpPr/>
          <p:nvPr/>
        </p:nvGrpSpPr>
        <p:grpSpPr>
          <a:xfrm>
            <a:off x="988110" y="3706847"/>
            <a:ext cx="7120890" cy="463550"/>
            <a:chOff x="2289" y="7221"/>
            <a:chExt cx="10062" cy="731"/>
          </a:xfrm>
        </p:grpSpPr>
        <p:grpSp>
          <p:nvGrpSpPr>
            <p:cNvPr id="41" name="组合 16">
              <a:extLst>
                <a:ext uri="{FF2B5EF4-FFF2-40B4-BE49-F238E27FC236}">
                  <a16:creationId xmlns:a16="http://schemas.microsoft.com/office/drawing/2014/main" id="{162E1B48-9E2C-6791-9B9F-7AC58EFFF88B}"/>
                </a:ext>
              </a:extLst>
            </p:cNvPr>
            <p:cNvGrpSpPr/>
            <p:nvPr/>
          </p:nvGrpSpPr>
          <p:grpSpPr>
            <a:xfrm>
              <a:off x="2334" y="7227"/>
              <a:ext cx="10017" cy="725"/>
              <a:chOff x="3324" y="4005"/>
              <a:chExt cx="9188" cy="733"/>
            </a:xfrm>
            <a:solidFill>
              <a:srgbClr val="0186D1"/>
            </a:solidFill>
          </p:grpSpPr>
          <p:sp>
            <p:nvSpPr>
              <p:cNvPr id="42" name="任意多边形 41">
                <a:extLst>
                  <a:ext uri="{FF2B5EF4-FFF2-40B4-BE49-F238E27FC236}">
                    <a16:creationId xmlns:a16="http://schemas.microsoft.com/office/drawing/2014/main" id="{1840BFC5-C49F-6B20-7EDC-4884EA100D20}"/>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a:extLst>
                  <a:ext uri="{FF2B5EF4-FFF2-40B4-BE49-F238E27FC236}">
                    <a16:creationId xmlns:a16="http://schemas.microsoft.com/office/drawing/2014/main" id="{AB69F7BF-5897-4141-B714-21517AF64051}"/>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a:extLst>
                  <a:ext uri="{FF2B5EF4-FFF2-40B4-BE49-F238E27FC236}">
                    <a16:creationId xmlns:a16="http://schemas.microsoft.com/office/drawing/2014/main" id="{F1949ACB-D836-D025-05B3-66A1888A0DB5}"/>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a:extLst>
                  <a:ext uri="{FF2B5EF4-FFF2-40B4-BE49-F238E27FC236}">
                    <a16:creationId xmlns:a16="http://schemas.microsoft.com/office/drawing/2014/main" id="{E843BB0B-86A2-E236-BA3D-48B012E3F031}"/>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a:extLst>
                <a:ext uri="{FF2B5EF4-FFF2-40B4-BE49-F238E27FC236}">
                  <a16:creationId xmlns:a16="http://schemas.microsoft.com/office/drawing/2014/main" id="{C9FDE189-741D-F32C-0F8B-FA5F1F61419E}"/>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04</a:t>
              </a:r>
            </a:p>
          </p:txBody>
        </p:sp>
        <p:sp>
          <p:nvSpPr>
            <p:cNvPr id="47" name="文本框 11">
              <a:extLst>
                <a:ext uri="{FF2B5EF4-FFF2-40B4-BE49-F238E27FC236}">
                  <a16:creationId xmlns:a16="http://schemas.microsoft.com/office/drawing/2014/main" id="{6460BF9C-2572-9103-A512-61AD63C2AC96}"/>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四、</a:t>
              </a:r>
              <a:r>
                <a:rPr lang="zh-CN" sz="2000" b="1" dirty="0">
                  <a:solidFill>
                    <a:schemeClr val="bg1"/>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a:extLst>
              <a:ext uri="{FF2B5EF4-FFF2-40B4-BE49-F238E27FC236}">
                <a16:creationId xmlns:a16="http://schemas.microsoft.com/office/drawing/2014/main" id="{0723CBA3-3A27-B9FE-A5E2-40EFB8D3F8A5}"/>
              </a:ext>
            </a:extLst>
          </p:cNvPr>
          <p:cNvGrpSpPr/>
          <p:nvPr/>
        </p:nvGrpSpPr>
        <p:grpSpPr>
          <a:xfrm>
            <a:off x="991920" y="2291432"/>
            <a:ext cx="7155815" cy="464185"/>
            <a:chOff x="2316" y="4509"/>
            <a:chExt cx="10104" cy="731"/>
          </a:xfrm>
        </p:grpSpPr>
        <p:grpSp>
          <p:nvGrpSpPr>
            <p:cNvPr id="34" name="组合 16">
              <a:extLst>
                <a:ext uri="{FF2B5EF4-FFF2-40B4-BE49-F238E27FC236}">
                  <a16:creationId xmlns:a16="http://schemas.microsoft.com/office/drawing/2014/main" id="{7941BD31-5DEF-98F9-63B3-F832C2B94926}"/>
                </a:ext>
              </a:extLst>
            </p:cNvPr>
            <p:cNvGrpSpPr/>
            <p:nvPr/>
          </p:nvGrpSpPr>
          <p:grpSpPr>
            <a:xfrm>
              <a:off x="2360" y="4515"/>
              <a:ext cx="10005" cy="725"/>
              <a:chOff x="3324" y="4005"/>
              <a:chExt cx="9188" cy="733"/>
            </a:xfrm>
            <a:solidFill>
              <a:srgbClr val="0186D1"/>
            </a:solidFill>
          </p:grpSpPr>
          <p:sp>
            <p:nvSpPr>
              <p:cNvPr id="37" name="任意多边形 36">
                <a:extLst>
                  <a:ext uri="{FF2B5EF4-FFF2-40B4-BE49-F238E27FC236}">
                    <a16:creationId xmlns:a16="http://schemas.microsoft.com/office/drawing/2014/main" id="{1A542D0F-B668-0274-1132-646FA74E54DF}"/>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a:extLst>
                  <a:ext uri="{FF2B5EF4-FFF2-40B4-BE49-F238E27FC236}">
                    <a16:creationId xmlns:a16="http://schemas.microsoft.com/office/drawing/2014/main" id="{8A447065-493C-4022-0528-B0DCCF580B6D}"/>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a:extLst>
                  <a:ext uri="{FF2B5EF4-FFF2-40B4-BE49-F238E27FC236}">
                    <a16:creationId xmlns:a16="http://schemas.microsoft.com/office/drawing/2014/main" id="{E35A5638-71C9-5D0E-B5C2-6CB14FCA177C}"/>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a:extLst>
                  <a:ext uri="{FF2B5EF4-FFF2-40B4-BE49-F238E27FC236}">
                    <a16:creationId xmlns:a16="http://schemas.microsoft.com/office/drawing/2014/main" id="{C6266023-F4B8-11FD-60C8-DC44A6348C8E}"/>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a:extLst>
                <a:ext uri="{FF2B5EF4-FFF2-40B4-BE49-F238E27FC236}">
                  <a16:creationId xmlns:a16="http://schemas.microsoft.com/office/drawing/2014/main" id="{364EB184-1371-37C7-4D3B-7A420183C8B0}"/>
                </a:ext>
              </a:extLst>
            </p:cNvPr>
            <p:cNvSpPr txBox="1"/>
            <p:nvPr/>
          </p:nvSpPr>
          <p:spPr>
            <a:xfrm rot="2460000">
              <a:off x="2316" y="458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02</a:t>
              </a:r>
            </a:p>
          </p:txBody>
        </p:sp>
        <p:sp>
          <p:nvSpPr>
            <p:cNvPr id="59" name="文本框 11">
              <a:extLst>
                <a:ext uri="{FF2B5EF4-FFF2-40B4-BE49-F238E27FC236}">
                  <a16:creationId xmlns:a16="http://schemas.microsoft.com/office/drawing/2014/main" id="{89717CEE-8D12-BEAF-EA11-84FA7B9B8365}"/>
                </a:ext>
              </a:extLst>
            </p:cNvPr>
            <p:cNvSpPr txBox="1"/>
            <p:nvPr/>
          </p:nvSpPr>
          <p:spPr>
            <a:xfrm>
              <a:off x="3972" y="4509"/>
              <a:ext cx="8448"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二、项目适用范围及主要内容</a:t>
              </a:r>
            </a:p>
          </p:txBody>
        </p:sp>
      </p:grpSp>
      <p:grpSp>
        <p:nvGrpSpPr>
          <p:cNvPr id="17" name="组合 16">
            <a:extLst>
              <a:ext uri="{FF2B5EF4-FFF2-40B4-BE49-F238E27FC236}">
                <a16:creationId xmlns:a16="http://schemas.microsoft.com/office/drawing/2014/main" id="{FC984131-119C-C14A-ACFA-24F5128B4313}"/>
              </a:ext>
            </a:extLst>
          </p:cNvPr>
          <p:cNvGrpSpPr/>
          <p:nvPr/>
        </p:nvGrpSpPr>
        <p:grpSpPr>
          <a:xfrm>
            <a:off x="991920" y="2998187"/>
            <a:ext cx="7117080" cy="464185"/>
            <a:chOff x="2316" y="5859"/>
            <a:chExt cx="10049" cy="731"/>
          </a:xfrm>
          <a:solidFill>
            <a:srgbClr val="FF0000"/>
          </a:solidFill>
        </p:grpSpPr>
        <p:grpSp>
          <p:nvGrpSpPr>
            <p:cNvPr id="60" name="组合 16">
              <a:extLst>
                <a:ext uri="{FF2B5EF4-FFF2-40B4-BE49-F238E27FC236}">
                  <a16:creationId xmlns:a16="http://schemas.microsoft.com/office/drawing/2014/main" id="{1804CF63-A3D1-F3C9-6200-C8249A6C4BDB}"/>
                </a:ext>
              </a:extLst>
            </p:cNvPr>
            <p:cNvGrpSpPr/>
            <p:nvPr/>
          </p:nvGrpSpPr>
          <p:grpSpPr>
            <a:xfrm>
              <a:off x="2360" y="5865"/>
              <a:ext cx="10005" cy="725"/>
              <a:chOff x="3324" y="4005"/>
              <a:chExt cx="9188" cy="733"/>
            </a:xfrm>
            <a:grpFill/>
          </p:grpSpPr>
          <p:sp>
            <p:nvSpPr>
              <p:cNvPr id="61" name="任意多边形 60">
                <a:extLst>
                  <a:ext uri="{FF2B5EF4-FFF2-40B4-BE49-F238E27FC236}">
                    <a16:creationId xmlns:a16="http://schemas.microsoft.com/office/drawing/2014/main" id="{7A629AEC-209D-C31B-9890-11EBBC837896}"/>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a:extLst>
                  <a:ext uri="{FF2B5EF4-FFF2-40B4-BE49-F238E27FC236}">
                    <a16:creationId xmlns:a16="http://schemas.microsoft.com/office/drawing/2014/main" id="{FEB6DA72-9EF5-0CBE-ABEA-65E942328397}"/>
                  </a:ext>
                </a:extLst>
              </p:cNvPr>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a:extLst>
                  <a:ext uri="{FF2B5EF4-FFF2-40B4-BE49-F238E27FC236}">
                    <a16:creationId xmlns:a16="http://schemas.microsoft.com/office/drawing/2014/main" id="{AD0E78CE-AD0D-E5E0-D855-A6CEF3C4C987}"/>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a:extLst>
                  <a:ext uri="{FF2B5EF4-FFF2-40B4-BE49-F238E27FC236}">
                    <a16:creationId xmlns:a16="http://schemas.microsoft.com/office/drawing/2014/main" id="{8DE07930-FF1B-1006-2505-3EBAC3DCE102}"/>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a:extLst>
                <a:ext uri="{FF2B5EF4-FFF2-40B4-BE49-F238E27FC236}">
                  <a16:creationId xmlns:a16="http://schemas.microsoft.com/office/drawing/2014/main" id="{DA1F79C3-7EDC-59CA-F2C3-EE1BC46A58B4}"/>
                </a:ext>
              </a:extLst>
            </p:cNvPr>
            <p:cNvSpPr txBox="1"/>
            <p:nvPr/>
          </p:nvSpPr>
          <p:spPr>
            <a:xfrm rot="2460000">
              <a:off x="2316" y="5935"/>
              <a:ext cx="791" cy="580"/>
            </a:xfrm>
            <a:prstGeom prst="rect">
              <a:avLst/>
            </a:prstGeom>
            <a:grpFill/>
          </p:spPr>
          <p:txBody>
            <a:bodyPr wrap="square" rtlCol="0">
              <a:spAutoFit/>
            </a:bodyPr>
            <a:lstStyle/>
            <a:p>
              <a:r>
                <a:rPr lang="en-US" altLang="zh-CN" sz="1800" b="1" dirty="0">
                  <a:solidFill>
                    <a:srgbClr val="FF0000"/>
                  </a:solidFill>
                  <a:latin typeface="微软雅黑" panose="020B0503020204020204" charset="-122"/>
                  <a:ea typeface="微软雅黑" panose="020B0503020204020204" charset="-122"/>
                </a:rPr>
                <a:t>03</a:t>
              </a:r>
            </a:p>
          </p:txBody>
        </p:sp>
        <p:sp>
          <p:nvSpPr>
            <p:cNvPr id="66" name="文本框 11">
              <a:extLst>
                <a:ext uri="{FF2B5EF4-FFF2-40B4-BE49-F238E27FC236}">
                  <a16:creationId xmlns:a16="http://schemas.microsoft.com/office/drawing/2014/main" id="{CD43D2AF-8F17-3B95-30EA-6F4F3051F462}"/>
                </a:ext>
              </a:extLst>
            </p:cNvPr>
            <p:cNvSpPr txBox="1"/>
            <p:nvPr/>
          </p:nvSpPr>
          <p:spPr>
            <a:xfrm>
              <a:off x="3976" y="5859"/>
              <a:ext cx="7487" cy="628"/>
            </a:xfrm>
            <a:prstGeom prst="rect">
              <a:avLst/>
            </a:prstGeom>
            <a:grpFill/>
          </p:spPr>
          <p:txBody>
            <a:bodyPr wrap="square" rtlCol="0">
              <a:spAutoFit/>
            </a:bodyPr>
            <a:lstStyle/>
            <a:p>
              <a:pPr algn="l"/>
              <a:r>
                <a:rPr lang="zh-CN" altLang="en-US" sz="2000" b="1" dirty="0">
                  <a:solidFill>
                    <a:srgbClr val="FF0000"/>
                  </a:solidFill>
                  <a:latin typeface="微软雅黑" panose="020B0503020204020204" charset="-122"/>
                  <a:ea typeface="微软雅黑" panose="020B0503020204020204" charset="-122"/>
                </a:rPr>
                <a:t>三、项目制定过程</a:t>
              </a:r>
            </a:p>
          </p:txBody>
        </p:sp>
      </p:grpSp>
      <p:grpSp>
        <p:nvGrpSpPr>
          <p:cNvPr id="19" name="组合 18">
            <a:extLst>
              <a:ext uri="{FF2B5EF4-FFF2-40B4-BE49-F238E27FC236}">
                <a16:creationId xmlns:a16="http://schemas.microsoft.com/office/drawing/2014/main" id="{ED6AA0A8-6D06-87FF-E351-D1476DAB8F92}"/>
              </a:ext>
            </a:extLst>
          </p:cNvPr>
          <p:cNvGrpSpPr/>
          <p:nvPr/>
        </p:nvGrpSpPr>
        <p:grpSpPr>
          <a:xfrm>
            <a:off x="988110" y="4411697"/>
            <a:ext cx="7120255" cy="464185"/>
            <a:chOff x="2263" y="8438"/>
            <a:chExt cx="10062" cy="731"/>
          </a:xfrm>
        </p:grpSpPr>
        <p:grpSp>
          <p:nvGrpSpPr>
            <p:cNvPr id="3" name="组合 16">
              <a:extLst>
                <a:ext uri="{FF2B5EF4-FFF2-40B4-BE49-F238E27FC236}">
                  <a16:creationId xmlns:a16="http://schemas.microsoft.com/office/drawing/2014/main" id="{68123888-0114-6ED3-D9B5-2BC35193C29D}"/>
                </a:ext>
              </a:extLst>
            </p:cNvPr>
            <p:cNvGrpSpPr/>
            <p:nvPr/>
          </p:nvGrpSpPr>
          <p:grpSpPr>
            <a:xfrm>
              <a:off x="2308" y="8444"/>
              <a:ext cx="10017" cy="725"/>
              <a:chOff x="3324" y="4005"/>
              <a:chExt cx="9188" cy="733"/>
            </a:xfrm>
            <a:solidFill>
              <a:srgbClr val="0186D1"/>
            </a:solidFill>
          </p:grpSpPr>
          <p:sp>
            <p:nvSpPr>
              <p:cNvPr id="7" name="任意多边形 6">
                <a:extLst>
                  <a:ext uri="{FF2B5EF4-FFF2-40B4-BE49-F238E27FC236}">
                    <a16:creationId xmlns:a16="http://schemas.microsoft.com/office/drawing/2014/main" id="{F5E2D549-A863-86ED-076F-3023DDD94511}"/>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a:extLst>
                  <a:ext uri="{FF2B5EF4-FFF2-40B4-BE49-F238E27FC236}">
                    <a16:creationId xmlns:a16="http://schemas.microsoft.com/office/drawing/2014/main" id="{FD036520-0F9A-FBE0-C24B-743B55A363D7}"/>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a:extLst>
                  <a:ext uri="{FF2B5EF4-FFF2-40B4-BE49-F238E27FC236}">
                    <a16:creationId xmlns:a16="http://schemas.microsoft.com/office/drawing/2014/main" id="{341953E9-2112-113F-192E-4C1E68163313}"/>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a:extLst>
                  <a:ext uri="{FF2B5EF4-FFF2-40B4-BE49-F238E27FC236}">
                    <a16:creationId xmlns:a16="http://schemas.microsoft.com/office/drawing/2014/main" id="{210C2D64-93DF-73F1-F8C4-F5CADD0F5949}"/>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a:extLst>
                <a:ext uri="{FF2B5EF4-FFF2-40B4-BE49-F238E27FC236}">
                  <a16:creationId xmlns:a16="http://schemas.microsoft.com/office/drawing/2014/main" id="{0820865B-AFE5-5B18-2138-CED02DE79C22}"/>
                </a:ext>
              </a:extLst>
            </p:cNvPr>
            <p:cNvSpPr txBox="1"/>
            <p:nvPr/>
          </p:nvSpPr>
          <p:spPr>
            <a:xfrm rot="2460000">
              <a:off x="2263" y="8515"/>
              <a:ext cx="782"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05</a:t>
              </a:r>
            </a:p>
          </p:txBody>
        </p:sp>
        <p:sp>
          <p:nvSpPr>
            <p:cNvPr id="14" name="文本框 11">
              <a:extLst>
                <a:ext uri="{FF2B5EF4-FFF2-40B4-BE49-F238E27FC236}">
                  <a16:creationId xmlns:a16="http://schemas.microsoft.com/office/drawing/2014/main" id="{97B2F46A-7D41-112D-656D-67D5C796C814}"/>
                </a:ext>
              </a:extLst>
            </p:cNvPr>
            <p:cNvSpPr txBox="1"/>
            <p:nvPr/>
          </p:nvSpPr>
          <p:spPr>
            <a:xfrm>
              <a:off x="3928" y="8438"/>
              <a:ext cx="7637"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a:extLst>
              <a:ext uri="{FF2B5EF4-FFF2-40B4-BE49-F238E27FC236}">
                <a16:creationId xmlns:a16="http://schemas.microsoft.com/office/drawing/2014/main" id="{B465EB69-6861-35D0-5288-5FE783B84D31}"/>
              </a:ext>
            </a:extLst>
          </p:cNvPr>
          <p:cNvGrpSpPr/>
          <p:nvPr/>
        </p:nvGrpSpPr>
        <p:grpSpPr>
          <a:xfrm>
            <a:off x="971600" y="5053682"/>
            <a:ext cx="7120890" cy="463550"/>
            <a:chOff x="2289" y="7221"/>
            <a:chExt cx="10062" cy="731"/>
          </a:xfrm>
        </p:grpSpPr>
        <p:grpSp>
          <p:nvGrpSpPr>
            <p:cNvPr id="21" name="组合 16">
              <a:extLst>
                <a:ext uri="{FF2B5EF4-FFF2-40B4-BE49-F238E27FC236}">
                  <a16:creationId xmlns:a16="http://schemas.microsoft.com/office/drawing/2014/main" id="{F2CED1ED-3D39-9D8B-E03E-5FB3E2432136}"/>
                </a:ext>
              </a:extLst>
            </p:cNvPr>
            <p:cNvGrpSpPr/>
            <p:nvPr/>
          </p:nvGrpSpPr>
          <p:grpSpPr>
            <a:xfrm>
              <a:off x="2334" y="7227"/>
              <a:ext cx="10017" cy="725"/>
              <a:chOff x="3324" y="4005"/>
              <a:chExt cx="9188" cy="733"/>
            </a:xfrm>
            <a:solidFill>
              <a:srgbClr val="0186D1"/>
            </a:solidFill>
          </p:grpSpPr>
          <p:sp>
            <p:nvSpPr>
              <p:cNvPr id="23" name="任意多边形 22">
                <a:extLst>
                  <a:ext uri="{FF2B5EF4-FFF2-40B4-BE49-F238E27FC236}">
                    <a16:creationId xmlns:a16="http://schemas.microsoft.com/office/drawing/2014/main" id="{FB11FEB9-88D8-4860-5D33-5995E9D7C295}"/>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a:extLst>
                  <a:ext uri="{FF2B5EF4-FFF2-40B4-BE49-F238E27FC236}">
                    <a16:creationId xmlns:a16="http://schemas.microsoft.com/office/drawing/2014/main" id="{13AB7274-B141-E54D-0DB4-9F061302A832}"/>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a:extLst>
                  <a:ext uri="{FF2B5EF4-FFF2-40B4-BE49-F238E27FC236}">
                    <a16:creationId xmlns:a16="http://schemas.microsoft.com/office/drawing/2014/main" id="{42006AA8-16D1-66AA-EB7F-536E0D52BAEF}"/>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a:extLst>
                  <a:ext uri="{FF2B5EF4-FFF2-40B4-BE49-F238E27FC236}">
                    <a16:creationId xmlns:a16="http://schemas.microsoft.com/office/drawing/2014/main" id="{5DD291AD-3CA7-8CB1-E90B-D244367DAC14}"/>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a:extLst>
                <a:ext uri="{FF2B5EF4-FFF2-40B4-BE49-F238E27FC236}">
                  <a16:creationId xmlns:a16="http://schemas.microsoft.com/office/drawing/2014/main" id="{BE291CFE-94E9-2532-3A78-16A5CDF96858}"/>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06</a:t>
              </a:r>
            </a:p>
          </p:txBody>
        </p:sp>
        <p:sp>
          <p:nvSpPr>
            <p:cNvPr id="28" name="文本框 11">
              <a:extLst>
                <a:ext uri="{FF2B5EF4-FFF2-40B4-BE49-F238E27FC236}">
                  <a16:creationId xmlns:a16="http://schemas.microsoft.com/office/drawing/2014/main" id="{CDD4AE28-BDD9-BDD4-6766-CA7C3DB6C541}"/>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六、</a:t>
              </a:r>
              <a:r>
                <a:rPr lang="zh-CN" altLang="en-US" sz="2000" b="1" dirty="0">
                  <a:solidFill>
                    <a:schemeClr val="bg1"/>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1932447881"/>
      </p:ext>
    </p:extLst>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7" name="文本框 6"/>
          <p:cNvSpPr txBox="1"/>
          <p:nvPr/>
        </p:nvSpPr>
        <p:spPr>
          <a:xfrm>
            <a:off x="395536" y="921101"/>
            <a:ext cx="1656184"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制定过程</a:t>
            </a:r>
            <a:endParaRPr lang="zh-CN" altLang="en-US" sz="2400" b="1" dirty="0">
              <a:solidFill>
                <a:schemeClr val="bg1"/>
              </a:solidFill>
              <a:latin typeface="微软雅黑" panose="020B0503020204020204" charset="-122"/>
              <a:ea typeface="微软雅黑" panose="020B0503020204020204" charset="-122"/>
            </a:endParaRPr>
          </a:p>
        </p:txBody>
      </p:sp>
      <p:sp>
        <p:nvSpPr>
          <p:cNvPr id="2" name="标题 7">
            <a:extLst>
              <a:ext uri="{FF2B5EF4-FFF2-40B4-BE49-F238E27FC236}">
                <a16:creationId xmlns:a16="http://schemas.microsoft.com/office/drawing/2014/main" id="{3B6B2AE6-9EC3-C140-4981-8BCF52953D74}"/>
              </a:ext>
            </a:extLst>
          </p:cNvPr>
          <p:cNvSpPr txBox="1"/>
          <p:nvPr/>
        </p:nvSpPr>
        <p:spPr>
          <a:xfrm>
            <a:off x="2915816" y="188640"/>
            <a:ext cx="3057247"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ym typeface="+mn-ea"/>
              </a:rPr>
              <a:t/>
            </a:r>
            <a:r>
              <a:rPr sz="2800" b="1" dirty="0">
                <a:sym typeface="+mn-ea"/>
              </a:rPr>
              <a:t/>
            </a:r>
            <a:r>
              <a:rPr lang="zh-CN" altLang="en-US" sz="2800" b="1" dirty="0">
                <a:sym typeface="+mn-ea"/>
              </a:rPr>
              <a:t/>
            </a:r>
            <a:r>
              <a:rPr sz="2800" b="1">
                <a:solidFill>
                  <a:srgbClr val="FFFFFF"/>
                </a:solidFill>
                <a:latin typeface="微软雅黑"/>
                <a:ea typeface="微软雅黑"/>
              </a:rPr>
              <a:t>三、项目制定过程</a:t>
            </a:r>
            <a:endParaRPr sz="2800" b="1" dirty="0"/>
          </a:p>
        </p:txBody>
      </p:sp>
      <p:sp>
        <p:nvSpPr>
          <p:cNvPr id="3" name="Rectangle 1">
            <a:extLst>
              <a:ext uri="{FF2B5EF4-FFF2-40B4-BE49-F238E27FC236}">
                <a16:creationId xmlns:a16="http://schemas.microsoft.com/office/drawing/2014/main" id="{2351A416-C8A5-C132-F337-43947813FDA6}"/>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本标准自</a:t>
            </a:r>
            <a:r>
              <a:rPr sz="2000" b="1">
                <a:solidFill>
                  <a:srgbClr val="FF0000"/>
                </a:solidFill>
                <a:latin typeface="微软雅黑"/>
                <a:ea typeface="微软雅黑"/>
              </a:rPr>
              <a:t>2024年6月</a:t>
            </a:r>
            <a:r>
              <a:rPr sz="2000" b="1">
                <a:solidFill>
                  <a:srgbClr val="0070C0"/>
                </a:solidFill>
                <a:latin typeface="微软雅黑"/>
                <a:ea typeface="微软雅黑"/>
              </a:rPr>
              <a:t>启动起草工作，经充分技术调研和多次专家研讨形成征求意见稿；</a:t>
            </a:r>
            <a:r>
              <a:rPr sz="2000" b="1">
                <a:solidFill>
                  <a:srgbClr val="FF0000"/>
                </a:solidFill>
                <a:latin typeface="微软雅黑"/>
                <a:ea typeface="微软雅黑"/>
              </a:rPr>
              <a:t>2025年6月</a:t>
            </a:r>
            <a:r>
              <a:rPr sz="2000" b="1">
                <a:solidFill>
                  <a:srgbClr val="0070C0"/>
                </a:solidFill>
                <a:latin typeface="微软雅黑"/>
                <a:ea typeface="微软雅黑"/>
              </a:rPr>
              <a:t>对标准题目和技术框架进行重大调整，将其纳入《医用呼吸机关键零部件》系列标准体系，并于</a:t>
            </a:r>
            <a:r>
              <a:rPr sz="2000" b="1">
                <a:solidFill>
                  <a:srgbClr val="FF0000"/>
                </a:solidFill>
                <a:latin typeface="微软雅黑"/>
                <a:ea typeface="微软雅黑"/>
              </a:rPr>
              <a:t>2025年7月</a:t>
            </a:r>
            <a:r>
              <a:rPr sz="2000" b="1">
                <a:solidFill>
                  <a:srgbClr val="0070C0"/>
                </a:solidFill>
                <a:latin typeface="微软雅黑"/>
                <a:ea typeface="微软雅黑"/>
              </a:rPr>
              <a:t>形成送审稿。</a:t>
            </a:r>
          </a:p>
        </p:txBody>
      </p:sp>
      <p:pic>
        <p:nvPicPr>
          <p:cNvPr id="9" name="Picture 8" descr="Slide9-标准制定过程.png"/>
          <p:cNvPicPr>
            <a:picLocks noChangeAspect="1"/>
          </p:cNvPicPr>
          <p:nvPr/>
        </p:nvPicPr>
        <p:blipFill>
          <a:blip r:embed="rId3"/>
          <a:stretch>
            <a:fillRect/>
          </a:stretch>
        </p:blipFill>
        <p:spPr>
          <a:xfrm>
            <a:off x="469116" y="3085953"/>
            <a:ext cx="8093672" cy="3200000"/>
          </a:xfrm>
          <a:prstGeom prst="rect">
            <a:avLst/>
          </a:prstGeom>
        </p:spPr>
      </p:pic>
    </p:spTree>
    <p:extLst>
      <p:ext uri="{BB962C8B-B14F-4D97-AF65-F5344CB8AC3E}">
        <p14:creationId xmlns:p14="http://schemas.microsoft.com/office/powerpoint/2010/main" val="492688978"/>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7" name="文本框 6"/>
          <p:cNvSpPr txBox="1"/>
          <p:nvPr/>
        </p:nvSpPr>
        <p:spPr>
          <a:xfrm>
            <a:off x="395536" y="921101"/>
            <a:ext cx="1656184"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论证过程</a:t>
            </a:r>
            <a:endParaRPr lang="zh-CN" altLang="en-US" sz="2400" b="1" dirty="0">
              <a:solidFill>
                <a:schemeClr val="bg1"/>
              </a:solidFill>
              <a:latin typeface="微软雅黑" panose="020B0503020204020204" charset="-122"/>
              <a:ea typeface="微软雅黑" panose="020B0503020204020204" charset="-122"/>
            </a:endParaRPr>
          </a:p>
        </p:txBody>
      </p:sp>
      <p:sp>
        <p:nvSpPr>
          <p:cNvPr id="2" name="标题 7">
            <a:extLst>
              <a:ext uri="{FF2B5EF4-FFF2-40B4-BE49-F238E27FC236}">
                <a16:creationId xmlns:a16="http://schemas.microsoft.com/office/drawing/2014/main" id="{3B6B2AE6-9EC3-C140-4981-8BCF52953D74}"/>
              </a:ext>
            </a:extLst>
          </p:cNvPr>
          <p:cNvSpPr txBox="1"/>
          <p:nvPr/>
        </p:nvSpPr>
        <p:spPr>
          <a:xfrm>
            <a:off x="2915816" y="188640"/>
            <a:ext cx="3057247"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ym typeface="+mn-ea"/>
              </a:rPr>
              <a:t/>
            </a:r>
            <a:r>
              <a:rPr sz="2800" b="1" dirty="0">
                <a:sym typeface="+mn-ea"/>
              </a:rPr>
              <a:t/>
            </a:r>
            <a:r>
              <a:rPr lang="zh-CN" altLang="en-US" sz="2800" b="1" dirty="0">
                <a:sym typeface="+mn-ea"/>
              </a:rPr>
              <a:t/>
            </a:r>
            <a:r>
              <a:rPr sz="2800" b="1">
                <a:solidFill>
                  <a:srgbClr val="FFFFFF"/>
                </a:solidFill>
                <a:latin typeface="微软雅黑"/>
                <a:ea typeface="微软雅黑"/>
              </a:rPr>
              <a:t>三、项目制定过程</a:t>
            </a:r>
            <a:endParaRPr sz="2800" b="1" dirty="0"/>
          </a:p>
        </p:txBody>
      </p:sp>
      <p:sp>
        <p:nvSpPr>
          <p:cNvPr id="4" name="Rectangle 1">
            <a:extLst>
              <a:ext uri="{FF2B5EF4-FFF2-40B4-BE49-F238E27FC236}">
                <a16:creationId xmlns:a16="http://schemas.microsoft.com/office/drawing/2014/main" id="{2351E1B7-ECBA-199E-A2D1-029201F74AAB}"/>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本标准遵循“</a:t>
            </a:r>
            <a:r>
              <a:rPr sz="2000" b="1">
                <a:solidFill>
                  <a:srgbClr val="FF0000"/>
                </a:solidFill>
                <a:latin typeface="微软雅黑"/>
                <a:ea typeface="微软雅黑"/>
              </a:rPr>
              <a:t>面向市场、服务产业</a:t>
            </a:r>
            <a:r>
              <a:rPr sz="2000" b="1">
                <a:solidFill>
                  <a:srgbClr val="0070C0"/>
                </a:solidFill>
                <a:latin typeface="微软雅黑"/>
                <a:ea typeface="微软雅黑"/>
              </a:rPr>
              <a:t>、自主制定、适时推出”的原则，依据GB/T 1.1—2020标准化工作导则起草；2025年6月会议中将本标准改为系列标准第1部分，核实修改了爆破压力、响应时间等关键指标，参编单位覆盖“</a:t>
            </a:r>
            <a:r>
              <a:rPr sz="2000" b="1">
                <a:solidFill>
                  <a:srgbClr val="FF0000"/>
                </a:solidFill>
                <a:latin typeface="微软雅黑"/>
                <a:ea typeface="微软雅黑"/>
              </a:rPr>
              <a:t>产学研医用</a:t>
            </a:r>
            <a:r>
              <a:rPr sz="2000" b="1">
                <a:solidFill>
                  <a:srgbClr val="0070C0"/>
                </a:solidFill>
                <a:latin typeface="微软雅黑"/>
                <a:ea typeface="微软雅黑"/>
              </a:rPr>
              <a:t>”并完成相关技术条款的实验验证。</a:t>
            </a:r>
          </a:p>
        </p:txBody>
      </p:sp>
      <p:graphicFrame>
        <p:nvGraphicFramePr>
          <p:cNvPr id="9" name="Table 8"/>
          <p:cNvGraphicFramePr>
            <a:graphicFrameLocks noGrp="1"/>
          </p:cNvGraphicFramePr>
          <p:nvPr/>
        </p:nvGraphicFramePr>
        <p:xfrm>
          <a:off x="422001" y="3429000"/>
          <a:ext cx="8299997" cy="2100000"/>
        </p:xfrm>
        <a:graphic>
          <a:graphicData uri="http://schemas.openxmlformats.org/drawingml/2006/table">
            <a:tbl>
              <a:tblPr firstRow="1" bandRow="0" lastRow="0" bandCol="0">
                <a:tableStyleId>{5C22544A-7EE6-4342-B048-85BDC9FD1C3A}</a:tableStyleId>
              </a:tblPr>
              <a:tblGrid>
                <a:gridCol w="2489999"/>
                <a:gridCol w="2904999"/>
                <a:gridCol w="2904999"/>
              </a:tblGrid>
              <a:tr h="420000">
                <a:tc>
                  <a:txBody>
                    <a:bodyPr/>
                    <a:lstStyle/>
                    <a:p>
                      <a:pPr algn="ctr"/>
                      <a:r>
                        <a:rPr sz="1400" b="1">
                          <a:solidFill>
                            <a:srgbClr val="FFFFFF"/>
                          </a:solidFill>
                          <a:latin typeface="微软雅黑"/>
                          <a:ea typeface="微软雅黑"/>
                        </a:rPr>
                        <a:t>论证项目</a:t>
                      </a:r>
                    </a:p>
                  </a:txBody>
                  <a:tcPr anchor="ctr">
                    <a:solidFill>
                      <a:srgbClr val="0070C0"/>
                    </a:solidFill>
                  </a:tcPr>
                </a:tc>
                <a:tc>
                  <a:txBody>
                    <a:bodyPr/>
                    <a:lstStyle/>
                    <a:p>
                      <a:pPr algn="ctr"/>
                      <a:r>
                        <a:rPr sz="1400" b="1">
                          <a:solidFill>
                            <a:srgbClr val="FFFFFF"/>
                          </a:solidFill>
                          <a:latin typeface="微软雅黑"/>
                          <a:ea typeface="微软雅黑"/>
                        </a:rPr>
                        <a:t>修改内容</a:t>
                      </a:r>
                    </a:p>
                  </a:txBody>
                  <a:tcPr anchor="ctr">
                    <a:solidFill>
                      <a:srgbClr val="0070C0"/>
                    </a:solidFill>
                  </a:tcPr>
                </a:tc>
                <a:tc>
                  <a:txBody>
                    <a:bodyPr/>
                    <a:lstStyle/>
                    <a:p>
                      <a:pPr algn="ctr"/>
                      <a:r>
                        <a:rPr sz="1400" b="1">
                          <a:solidFill>
                            <a:srgbClr val="FFFFFF"/>
                          </a:solidFill>
                          <a:latin typeface="微软雅黑"/>
                          <a:ea typeface="微软雅黑"/>
                        </a:rPr>
                        <a:t>修改原因</a:t>
                      </a:r>
                    </a:p>
                  </a:txBody>
                  <a:tcPr anchor="ctr">
                    <a:solidFill>
                      <a:srgbClr val="0070C0"/>
                    </a:solidFill>
                  </a:tcPr>
                </a:tc>
              </a:tr>
              <a:tr h="420000">
                <a:tc>
                  <a:txBody>
                    <a:bodyPr/>
                    <a:lstStyle/>
                    <a:p>
                      <a:pPr algn="l"/>
                      <a:r>
                        <a:rPr sz="1200" b="0">
                          <a:solidFill>
                            <a:srgbClr val="000000"/>
                          </a:solidFill>
                          <a:latin typeface="微软雅黑"/>
                          <a:ea typeface="微软雅黑"/>
                        </a:rPr>
                        <a:t>标准题目</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纳入《医用呼吸机关键零部件》
系列标准第1部分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提高系统性和协调性</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文件格式</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按GB/T 1.1—2020规定修改</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符合标准化工作导则要求</a:t>
                      </a:r>
                    </a:p>
                  </a:txBody>
                  <a:tcPr anchor="ctr" marL="91440" marR="91440" marT="45720" marB="45720">
                    <a:solidFill>
                      <a:srgbClr val="FFFFFF"/>
                    </a:solidFill>
                  </a:tcPr>
                </a:tc>
              </a:tr>
              <a:tr h="420000">
                <a:tc>
                  <a:txBody>
                    <a:bodyPr/>
                    <a:lstStyle/>
                    <a:p>
                      <a:pPr algn="l"/>
                      <a:r>
                        <a:rPr sz="1200" b="0">
                          <a:solidFill>
                            <a:srgbClr val="000000"/>
                          </a:solidFill>
                          <a:latin typeface="微软雅黑"/>
                          <a:ea typeface="微软雅黑"/>
                        </a:rPr>
                        <a:t>爆破压力</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不低于最大工作压力上限3倍</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与实际验证结果匹配</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响应时间</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优于1ms</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与实际使用需求一致</a:t>
                      </a:r>
                    </a:p>
                  </a:txBody>
                  <a:tcPr anchor="ctr" marL="91440" marR="91440" marT="45720" marB="45720">
                    <a:solidFill>
                      <a:srgbClr val="FFFFFF"/>
                    </a:solidFill>
                  </a:tcPr>
                </a:tc>
              </a:tr>
            </a:tbl>
          </a:graphicData>
        </a:graphic>
      </p:graphicFrame>
    </p:spTree>
    <p:extLst>
      <p:ext uri="{BB962C8B-B14F-4D97-AF65-F5344CB8AC3E}">
        <p14:creationId xmlns:p14="http://schemas.microsoft.com/office/powerpoint/2010/main" val="2231020141"/>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7" name="文本框 6"/>
          <p:cNvSpPr txBox="1"/>
          <p:nvPr/>
        </p:nvSpPr>
        <p:spPr>
          <a:xfrm>
            <a:off x="395536" y="921101"/>
            <a:ext cx="1656184"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参编单位</a:t>
            </a:r>
            <a:endParaRPr lang="zh-CN" altLang="en-US" sz="2400" b="1" dirty="0">
              <a:solidFill>
                <a:schemeClr val="bg1"/>
              </a:solidFill>
              <a:latin typeface="微软雅黑" panose="020B0503020204020204" charset="-122"/>
              <a:ea typeface="微软雅黑" panose="020B0503020204020204" charset="-122"/>
            </a:endParaRPr>
          </a:p>
        </p:txBody>
      </p:sp>
      <p:sp>
        <p:nvSpPr>
          <p:cNvPr id="2" name="标题 7">
            <a:extLst>
              <a:ext uri="{FF2B5EF4-FFF2-40B4-BE49-F238E27FC236}">
                <a16:creationId xmlns:a16="http://schemas.microsoft.com/office/drawing/2014/main" id="{3B6B2AE6-9EC3-C140-4981-8BCF52953D74}"/>
              </a:ext>
            </a:extLst>
          </p:cNvPr>
          <p:cNvSpPr txBox="1"/>
          <p:nvPr/>
        </p:nvSpPr>
        <p:spPr>
          <a:xfrm>
            <a:off x="2915816" y="188640"/>
            <a:ext cx="3057247"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lang="zh-CN" altLang="en-US" sz="2800" b="1" dirty="0">
                <a:sym typeface="+mn-ea"/>
              </a:rPr>
              <a:t/>
            </a:r>
            <a:r>
              <a:rPr sz="2800" b="1" dirty="0">
                <a:sym typeface="+mn-ea"/>
              </a:rPr>
              <a:t/>
            </a:r>
            <a:r>
              <a:rPr lang="zh-CN" altLang="en-US" sz="2800" b="1" dirty="0">
                <a:sym typeface="+mn-ea"/>
              </a:rPr>
              <a:t/>
            </a:r>
            <a:r>
              <a:rPr sz="2800" b="1">
                <a:solidFill>
                  <a:srgbClr val="FFFFFF"/>
                </a:solidFill>
                <a:latin typeface="微软雅黑"/>
                <a:ea typeface="微软雅黑"/>
              </a:rPr>
              <a:t>三、项目制定过程</a:t>
            </a:r>
            <a:endParaRPr sz="2800" b="1" dirty="0"/>
          </a:p>
        </p:txBody>
      </p:sp>
      <p:sp>
        <p:nvSpPr>
          <p:cNvPr id="4" name="Rectangle 1">
            <a:extLst>
              <a:ext uri="{FF2B5EF4-FFF2-40B4-BE49-F238E27FC236}">
                <a16:creationId xmlns:a16="http://schemas.microsoft.com/office/drawing/2014/main" id="{3EB9BE78-5230-3B56-4909-673A1D47D23B}"/>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本标准由机械工业仪器仪表综合技术经济研究所牵头，联合北京谊安、深圳迈瑞、北京航天长峰、江苏鱼跃、中电科芯片、汉威科技等</a:t>
            </a:r>
            <a:r>
              <a:rPr sz="2000" b="1">
                <a:solidFill>
                  <a:srgbClr val="FF0000"/>
                </a:solidFill>
                <a:latin typeface="微软雅黑"/>
                <a:ea typeface="微软雅黑"/>
              </a:rPr>
              <a:t>13家</a:t>
            </a:r>
            <a:r>
              <a:rPr sz="2000" b="1">
                <a:solidFill>
                  <a:srgbClr val="0070C0"/>
                </a:solidFill>
                <a:latin typeface="微软雅黑"/>
                <a:ea typeface="微软雅黑"/>
              </a:rPr>
              <a:t>“</a:t>
            </a:r>
            <a:r>
              <a:rPr sz="2000" b="1">
                <a:solidFill>
                  <a:srgbClr val="FF0000"/>
                </a:solidFill>
                <a:latin typeface="微软雅黑"/>
                <a:ea typeface="微软雅黑"/>
              </a:rPr>
              <a:t>产学研医用</a:t>
            </a:r>
            <a:r>
              <a:rPr sz="2000" b="1">
                <a:solidFill>
                  <a:srgbClr val="0070C0"/>
                </a:solidFill>
                <a:latin typeface="微软雅黑"/>
                <a:ea typeface="微软雅黑"/>
              </a:rPr>
              <a:t>”单位共同起草，主要成员</a:t>
            </a:r>
            <a:r>
              <a:rPr sz="2000" b="1">
                <a:solidFill>
                  <a:srgbClr val="FF0000"/>
                </a:solidFill>
                <a:latin typeface="微软雅黑"/>
                <a:ea typeface="微软雅黑"/>
              </a:rPr>
              <a:t>23人</a:t>
            </a:r>
            <a:r>
              <a:rPr sz="2000" b="1">
                <a:solidFill>
                  <a:srgbClr val="0070C0"/>
                </a:solidFill>
                <a:latin typeface="微软雅黑"/>
                <a:ea typeface="微软雅黑"/>
              </a:rPr>
              <a:t>。</a:t>
            </a:r>
          </a:p>
        </p:txBody>
      </p:sp>
      <p:graphicFrame>
        <p:nvGraphicFramePr>
          <p:cNvPr id="9" name="Table 8"/>
          <p:cNvGraphicFramePr>
            <a:graphicFrameLocks noGrp="1"/>
          </p:cNvGraphicFramePr>
          <p:nvPr/>
        </p:nvGraphicFramePr>
        <p:xfrm>
          <a:off x="422001" y="3000000"/>
          <a:ext cx="8299997" cy="3510000"/>
        </p:xfrm>
        <a:graphic>
          <a:graphicData uri="http://schemas.openxmlformats.org/drawingml/2006/table">
            <a:tbl>
              <a:tblPr firstRow="1" bandRow="0" lastRow="0" bandCol="0">
                <a:tableStyleId>{5C22544A-7EE6-4342-B048-85BDC9FD1C3A}</a:tableStyleId>
              </a:tblPr>
              <a:tblGrid>
                <a:gridCol w="2489999"/>
                <a:gridCol w="2904999"/>
                <a:gridCol w="2904999"/>
              </a:tblGrid>
              <a:tr h="270000">
                <a:tc>
                  <a:txBody>
                    <a:bodyPr/>
                    <a:lstStyle/>
                    <a:p>
                      <a:pPr algn="ctr"/>
                      <a:r>
                        <a:rPr sz="1400" b="1">
                          <a:solidFill>
                            <a:srgbClr val="FFFFFF"/>
                          </a:solidFill>
                          <a:latin typeface="微软雅黑"/>
                          <a:ea typeface="微软雅黑"/>
                        </a:rPr>
                        <a:t>单位名称</a:t>
                      </a:r>
                    </a:p>
                  </a:txBody>
                  <a:tcPr anchor="ctr">
                    <a:solidFill>
                      <a:srgbClr val="0070C0"/>
                    </a:solidFill>
                  </a:tcPr>
                </a:tc>
                <a:tc>
                  <a:txBody>
                    <a:bodyPr/>
                    <a:lstStyle/>
                    <a:p>
                      <a:pPr algn="ctr"/>
                      <a:r>
                        <a:rPr sz="1400" b="1">
                          <a:solidFill>
                            <a:srgbClr val="FFFFFF"/>
                          </a:solidFill>
                          <a:latin typeface="微软雅黑"/>
                          <a:ea typeface="微软雅黑"/>
                        </a:rPr>
                        <a:t>单位类型</a:t>
                      </a:r>
                    </a:p>
                  </a:txBody>
                  <a:tcPr anchor="ctr">
                    <a:solidFill>
                      <a:srgbClr val="0070C0"/>
                    </a:solidFill>
                  </a:tcPr>
                </a:tc>
                <a:tc>
                  <a:txBody>
                    <a:bodyPr/>
                    <a:lstStyle/>
                    <a:p>
                      <a:pPr algn="ctr"/>
                      <a:r>
                        <a:rPr sz="1400" b="1">
                          <a:solidFill>
                            <a:srgbClr val="FFFFFF"/>
                          </a:solidFill>
                          <a:latin typeface="微软雅黑"/>
                          <a:ea typeface="微软雅黑"/>
                        </a:rPr>
                        <a:t>主要职责</a:t>
                      </a:r>
                    </a:p>
                  </a:txBody>
                  <a:tcPr anchor="ctr">
                    <a:solidFill>
                      <a:srgbClr val="0070C0"/>
                    </a:solidFill>
                  </a:tcPr>
                </a:tc>
              </a:tr>
              <a:tr h="270000">
                <a:tc>
                  <a:txBody>
                    <a:bodyPr/>
                    <a:lstStyle/>
                    <a:p>
                      <a:pPr algn="l"/>
                      <a:r>
                        <a:rPr sz="1200" b="0">
                          <a:solidFill>
                            <a:srgbClr val="000000"/>
                          </a:solidFill>
                          <a:latin typeface="微软雅黑"/>
                          <a:ea typeface="微软雅黑"/>
                        </a:rPr>
                        <a:t>机械工业仪器仪表综合技术经济研究所</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牵头科研机构</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全面协调标准起草</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北京谊安医疗系统股份有限公司</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呼吸机制造企业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生产制造经验支持</a:t>
                      </a:r>
                    </a:p>
                  </a:txBody>
                  <a:tcPr anchor="ctr" marL="91440" marR="91440" marT="45720" marB="45720">
                    <a:solidFill>
                      <a:srgbClr val="FFFFFF"/>
                    </a:solidFill>
                  </a:tcPr>
                </a:tc>
              </a:tr>
              <a:tr h="270000">
                <a:tc>
                  <a:txBody>
                    <a:bodyPr/>
                    <a:lstStyle/>
                    <a:p>
                      <a:pPr algn="l"/>
                      <a:r>
                        <a:rPr sz="1200" b="0">
                          <a:solidFill>
                            <a:srgbClr val="000000"/>
                          </a:solidFill>
                          <a:latin typeface="微软雅黑"/>
                          <a:ea typeface="微软雅黑"/>
                        </a:rPr>
                        <a:t>深圳迈瑞生物医疗电子股份有限公司</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医疗器械龙头企业</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技术条款验证</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首都医科大学附属北京友谊医院</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临床医疗机构</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临床应用需求输入</a:t>
                      </a:r>
                    </a:p>
                  </a:txBody>
                  <a:tcPr anchor="ctr" marL="91440" marR="91440" marT="45720" marB="45720">
                    <a:solidFill>
                      <a:srgbClr val="FFFFFF"/>
                    </a:solidFill>
                  </a:tcPr>
                </a:tc>
              </a:tr>
              <a:tr h="270000">
                <a:tc>
                  <a:txBody>
                    <a:bodyPr/>
                    <a:lstStyle/>
                    <a:p>
                      <a:pPr algn="l"/>
                      <a:r>
                        <a:rPr sz="1200" b="0">
                          <a:solidFill>
                            <a:srgbClr val="000000"/>
                          </a:solidFill>
                          <a:latin typeface="微软雅黑"/>
                          <a:ea typeface="微软雅黑"/>
                        </a:rPr>
                        <a:t>中电科芯片技术（集团）有限公司</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芯片技术企业</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传感器芯片技术支持</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北京航天长峰股份有限公司</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医疗设备制造企业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生产制造经验支持</a:t>
                      </a:r>
                    </a:p>
                  </a:txBody>
                  <a:tcPr anchor="ctr" marL="91440" marR="91440" marT="45720" marB="45720">
                    <a:solidFill>
                      <a:srgbClr val="FFFFFF"/>
                    </a:solidFill>
                  </a:tcPr>
                </a:tc>
              </a:tr>
              <a:tr h="270000">
                <a:tc>
                  <a:txBody>
                    <a:bodyPr/>
                    <a:lstStyle/>
                    <a:p>
                      <a:pPr algn="l"/>
                      <a:r>
                        <a:rPr sz="1200" b="0">
                          <a:solidFill>
                            <a:srgbClr val="000000"/>
                          </a:solidFill>
                          <a:latin typeface="微软雅黑"/>
                          <a:ea typeface="微软雅黑"/>
                        </a:rPr>
                        <a:t>深圳高性能医疗器械国家研究院</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国家级研究院</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技术条款验证</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电子科技大学附属医院·四川省人民医院</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临床医疗机构</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临床应用需求输入</a:t>
                      </a:r>
                    </a:p>
                  </a:txBody>
                  <a:tcPr anchor="ctr" marL="91440" marR="91440" marT="45720" marB="45720">
                    <a:solidFill>
                      <a:srgbClr val="FFFFFF"/>
                    </a:solidFill>
                  </a:tcPr>
                </a:tc>
              </a:tr>
              <a:tr h="270000">
                <a:tc>
                  <a:txBody>
                    <a:bodyPr/>
                    <a:lstStyle/>
                    <a:p>
                      <a:pPr algn="l"/>
                      <a:r>
                        <a:rPr sz="1200" b="0">
                          <a:solidFill>
                            <a:srgbClr val="000000"/>
                          </a:solidFill>
                          <a:latin typeface="微软雅黑"/>
                          <a:ea typeface="微软雅黑"/>
                        </a:rPr>
                        <a:t>汉威科技集团股份有限公司</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传感器集团企业</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实验验证</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江苏鱼跃医疗设备股份有限公司</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医疗器械制造企业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实验验证</a:t>
                      </a:r>
                    </a:p>
                  </a:txBody>
                  <a:tcPr anchor="ctr" marL="91440" marR="91440" marT="45720" marB="45720">
                    <a:solidFill>
                      <a:srgbClr val="FFFFFF"/>
                    </a:solidFill>
                  </a:tcPr>
                </a:tc>
              </a:tr>
              <a:tr h="270000">
                <a:tc>
                  <a:txBody>
                    <a:bodyPr/>
                    <a:lstStyle/>
                    <a:p>
                      <a:pPr algn="l"/>
                      <a:r>
                        <a:rPr sz="1200" b="0">
                          <a:solidFill>
                            <a:srgbClr val="000000"/>
                          </a:solidFill>
                          <a:latin typeface="微软雅黑"/>
                          <a:ea typeface="微软雅黑"/>
                        </a:rPr>
                        <a:t>郑州炜盛电子科技有限公司</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传感器制造企业</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实验验证</a:t>
                      </a:r>
                    </a:p>
                  </a:txBody>
                  <a:tcPr anchor="ctr" marL="91440" marR="91440" marT="45720" marB="45720">
                    <a:solidFill>
                      <a:srgbClr val="D9E2F3"/>
                    </a:solidFill>
                  </a:tcPr>
                </a:tc>
              </a:tr>
              <a:tr h="270000">
                <a:tc>
                  <a:txBody>
                    <a:bodyPr/>
                    <a:lstStyle/>
                    <a:p>
                      <a:pPr algn="l"/>
                      <a:r>
                        <a:rPr sz="1200" b="0">
                          <a:solidFill>
                            <a:srgbClr val="000000"/>
                          </a:solidFill>
                          <a:latin typeface="微软雅黑"/>
                          <a:ea typeface="微软雅黑"/>
                        </a:rPr>
                        <a:t>西人马联合测控泉州科技有限公司</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传感器制造企业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实验验证</a:t>
                      </a:r>
                    </a:p>
                  </a:txBody>
                  <a:tcPr anchor="ctr" marL="91440" marR="91440" marT="45720" marB="45720">
                    <a:solidFill>
                      <a:srgbClr val="FFFFFF"/>
                    </a:solidFill>
                  </a:tcPr>
                </a:tc>
              </a:tr>
            </a:tbl>
          </a:graphicData>
        </a:graphic>
      </p:graphicFrame>
    </p:spTree>
    <p:extLst>
      <p:ext uri="{BB962C8B-B14F-4D97-AF65-F5344CB8AC3E}">
        <p14:creationId xmlns:p14="http://schemas.microsoft.com/office/powerpoint/2010/main" val="1442218674"/>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F492-1E32-7156-FFD2-A4CA27B72AB1}"/>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ECC3A652-4C5F-3305-4CD8-A12183D34CFA}"/>
              </a:ext>
            </a:extLst>
          </p:cNvPr>
          <p:cNvGrpSpPr/>
          <p:nvPr/>
        </p:nvGrpSpPr>
        <p:grpSpPr>
          <a:xfrm>
            <a:off x="994460" y="1584042"/>
            <a:ext cx="7113905" cy="471805"/>
            <a:chOff x="2323" y="3083"/>
            <a:chExt cx="10043" cy="725"/>
          </a:xfrm>
        </p:grpSpPr>
        <p:grpSp>
          <p:nvGrpSpPr>
            <p:cNvPr id="2" name="组合 35">
              <a:extLst>
                <a:ext uri="{FF2B5EF4-FFF2-40B4-BE49-F238E27FC236}">
                  <a16:creationId xmlns:a16="http://schemas.microsoft.com/office/drawing/2014/main" id="{60EB1C33-481B-632F-CAE1-74A536BFA4AF}"/>
                </a:ext>
              </a:extLst>
            </p:cNvPr>
            <p:cNvGrpSpPr/>
            <p:nvPr/>
          </p:nvGrpSpPr>
          <p:grpSpPr>
            <a:xfrm>
              <a:off x="2353" y="3083"/>
              <a:ext cx="10013" cy="725"/>
              <a:chOff x="3324" y="4005"/>
              <a:chExt cx="9188" cy="733"/>
            </a:xfrm>
            <a:solidFill>
              <a:srgbClr val="0186D1"/>
            </a:solidFill>
          </p:grpSpPr>
          <p:sp>
            <p:nvSpPr>
              <p:cNvPr id="4" name="任意多边形 3">
                <a:extLst>
                  <a:ext uri="{FF2B5EF4-FFF2-40B4-BE49-F238E27FC236}">
                    <a16:creationId xmlns:a16="http://schemas.microsoft.com/office/drawing/2014/main" id="{4AB8C97C-ED19-0637-8D75-58840319264A}"/>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a:extLst>
                  <a:ext uri="{FF2B5EF4-FFF2-40B4-BE49-F238E27FC236}">
                    <a16:creationId xmlns:a16="http://schemas.microsoft.com/office/drawing/2014/main" id="{A2286FBC-F55B-C2A3-BF5E-9D99228DE7E5}"/>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a:extLst>
                  <a:ext uri="{FF2B5EF4-FFF2-40B4-BE49-F238E27FC236}">
                    <a16:creationId xmlns:a16="http://schemas.microsoft.com/office/drawing/2014/main" id="{7BA91745-E2F4-4799-3A6A-C70194258731}"/>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a:extLst>
                  <a:ext uri="{FF2B5EF4-FFF2-40B4-BE49-F238E27FC236}">
                    <a16:creationId xmlns:a16="http://schemas.microsoft.com/office/drawing/2014/main" id="{64C91FF5-528F-C114-AFE5-91D6C9ABB59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a:extLst>
                <a:ext uri="{FF2B5EF4-FFF2-40B4-BE49-F238E27FC236}">
                  <a16:creationId xmlns:a16="http://schemas.microsoft.com/office/drawing/2014/main" id="{DB65E957-B9CA-04FF-CD62-A76D04E4F537}"/>
                </a:ext>
              </a:extLst>
            </p:cNvPr>
            <p:cNvSpPr txBox="1"/>
            <p:nvPr/>
          </p:nvSpPr>
          <p:spPr>
            <a:xfrm>
              <a:off x="3910" y="3083"/>
              <a:ext cx="8183" cy="613"/>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a:extLst>
                <a:ext uri="{FF2B5EF4-FFF2-40B4-BE49-F238E27FC236}">
                  <a16:creationId xmlns:a16="http://schemas.microsoft.com/office/drawing/2014/main" id="{18FBBEF4-F115-E34B-D64D-D44FFFD2AAAC}"/>
                </a:ext>
              </a:extLst>
            </p:cNvPr>
            <p:cNvSpPr txBox="1"/>
            <p:nvPr/>
          </p:nvSpPr>
          <p:spPr>
            <a:xfrm rot="2460000">
              <a:off x="2323" y="3141"/>
              <a:ext cx="846" cy="566"/>
            </a:xfrm>
            <a:prstGeom prst="rect">
              <a:avLst/>
            </a:prstGeom>
            <a:noFill/>
          </p:spPr>
          <p:txBody>
            <a:bodyPr wrap="square" rtlCol="0">
              <a:spAutoFit/>
            </a:bodyPr>
            <a:lstStyle/>
            <a:p>
              <a:r>
                <a:rPr lang="en-US" altLang="zh-CN" sz="1800" b="1">
                  <a:solidFill>
                    <a:schemeClr val="bg1"/>
                  </a:solidFill>
                  <a:latin typeface="微软雅黑" panose="020B0503020204020204" charset="-122"/>
                  <a:ea typeface="微软雅黑" panose="020B0503020204020204" charset="-122"/>
                </a:rPr>
                <a:t>01</a:t>
              </a:r>
            </a:p>
          </p:txBody>
        </p:sp>
      </p:grpSp>
      <p:sp>
        <p:nvSpPr>
          <p:cNvPr id="8" name="标题 7">
            <a:extLst>
              <a:ext uri="{FF2B5EF4-FFF2-40B4-BE49-F238E27FC236}">
                <a16:creationId xmlns:a16="http://schemas.microsoft.com/office/drawing/2014/main" id="{1F32510C-51D0-892D-93BA-3548D8278F08}"/>
              </a:ext>
            </a:extLst>
          </p:cNvPr>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a:extLst>
              <a:ext uri="{FF2B5EF4-FFF2-40B4-BE49-F238E27FC236}">
                <a16:creationId xmlns:a16="http://schemas.microsoft.com/office/drawing/2014/main" id="{BD1D78D4-A8D3-FE94-0940-D445E6F16BC8}"/>
              </a:ext>
            </a:extLst>
          </p:cNvPr>
          <p:cNvGrpSpPr/>
          <p:nvPr/>
        </p:nvGrpSpPr>
        <p:grpSpPr>
          <a:xfrm>
            <a:off x="988110" y="3706847"/>
            <a:ext cx="7120890" cy="463550"/>
            <a:chOff x="2289" y="7221"/>
            <a:chExt cx="10062" cy="731"/>
          </a:xfrm>
          <a:solidFill>
            <a:srgbClr val="FF0000"/>
          </a:solidFill>
        </p:grpSpPr>
        <p:grpSp>
          <p:nvGrpSpPr>
            <p:cNvPr id="41" name="组合 16">
              <a:extLst>
                <a:ext uri="{FF2B5EF4-FFF2-40B4-BE49-F238E27FC236}">
                  <a16:creationId xmlns:a16="http://schemas.microsoft.com/office/drawing/2014/main" id="{73FF28DD-8241-E90E-13FC-129CE1D90145}"/>
                </a:ext>
              </a:extLst>
            </p:cNvPr>
            <p:cNvGrpSpPr/>
            <p:nvPr/>
          </p:nvGrpSpPr>
          <p:grpSpPr>
            <a:xfrm>
              <a:off x="2334" y="7227"/>
              <a:ext cx="10017" cy="725"/>
              <a:chOff x="3324" y="4005"/>
              <a:chExt cx="9188" cy="733"/>
            </a:xfrm>
            <a:grpFill/>
          </p:grpSpPr>
          <p:sp>
            <p:nvSpPr>
              <p:cNvPr id="42" name="任意多边形 41">
                <a:extLst>
                  <a:ext uri="{FF2B5EF4-FFF2-40B4-BE49-F238E27FC236}">
                    <a16:creationId xmlns:a16="http://schemas.microsoft.com/office/drawing/2014/main" id="{881A8963-7D48-D5A4-F401-CCD316943D92}"/>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a:extLst>
                  <a:ext uri="{FF2B5EF4-FFF2-40B4-BE49-F238E27FC236}">
                    <a16:creationId xmlns:a16="http://schemas.microsoft.com/office/drawing/2014/main" id="{63DFCF7F-AB07-4117-6305-12DFBC70AAE7}"/>
                  </a:ext>
                </a:extLst>
              </p:cNvPr>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a:extLst>
                  <a:ext uri="{FF2B5EF4-FFF2-40B4-BE49-F238E27FC236}">
                    <a16:creationId xmlns:a16="http://schemas.microsoft.com/office/drawing/2014/main" id="{0196EF95-F7FB-9B5E-BB9F-FCD1D5EDB6C0}"/>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a:extLst>
                  <a:ext uri="{FF2B5EF4-FFF2-40B4-BE49-F238E27FC236}">
                    <a16:creationId xmlns:a16="http://schemas.microsoft.com/office/drawing/2014/main" id="{A742400E-B872-52D6-8EB8-E8F03D29C4AA}"/>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a:extLst>
                <a:ext uri="{FF2B5EF4-FFF2-40B4-BE49-F238E27FC236}">
                  <a16:creationId xmlns:a16="http://schemas.microsoft.com/office/drawing/2014/main" id="{04832884-F817-2C6E-C625-B769C2A6A3AE}"/>
                </a:ext>
              </a:extLst>
            </p:cNvPr>
            <p:cNvSpPr txBox="1"/>
            <p:nvPr/>
          </p:nvSpPr>
          <p:spPr>
            <a:xfrm rot="2460000">
              <a:off x="2289" y="7298"/>
              <a:ext cx="791" cy="581"/>
            </a:xfrm>
            <a:prstGeom prst="rect">
              <a:avLst/>
            </a:prstGeom>
            <a:grpFill/>
          </p:spPr>
          <p:txBody>
            <a:bodyPr wrap="square" rtlCol="0">
              <a:spAutoFit/>
            </a:bodyPr>
            <a:lstStyle/>
            <a:p>
              <a:r>
                <a:rPr lang="en-US" altLang="zh-CN" sz="1800" b="1" dirty="0">
                  <a:solidFill>
                    <a:srgbClr val="FF0000"/>
                  </a:solidFill>
                  <a:latin typeface="微软雅黑" panose="020B0503020204020204" charset="-122"/>
                  <a:ea typeface="微软雅黑" panose="020B0503020204020204" charset="-122"/>
                </a:rPr>
                <a:t>04</a:t>
              </a:r>
            </a:p>
          </p:txBody>
        </p:sp>
        <p:sp>
          <p:nvSpPr>
            <p:cNvPr id="47" name="文本框 11">
              <a:extLst>
                <a:ext uri="{FF2B5EF4-FFF2-40B4-BE49-F238E27FC236}">
                  <a16:creationId xmlns:a16="http://schemas.microsoft.com/office/drawing/2014/main" id="{21A8356B-AB7C-2653-9AC0-A0A8381D1168}"/>
                </a:ext>
              </a:extLst>
            </p:cNvPr>
            <p:cNvSpPr txBox="1"/>
            <p:nvPr/>
          </p:nvSpPr>
          <p:spPr>
            <a:xfrm>
              <a:off x="3954" y="7221"/>
              <a:ext cx="8396" cy="629"/>
            </a:xfrm>
            <a:prstGeom prst="rect">
              <a:avLst/>
            </a:prstGeom>
            <a:grpFill/>
          </p:spPr>
          <p:txBody>
            <a:bodyPr wrap="square" rtlCol="0">
              <a:spAutoFit/>
            </a:bodyPr>
            <a:lstStyle/>
            <a:p>
              <a:pPr algn="l"/>
              <a:r>
                <a:rPr lang="zh-CN" altLang="en-US" sz="2000" b="1" dirty="0">
                  <a:solidFill>
                    <a:srgbClr val="FF0000"/>
                  </a:solidFill>
                  <a:latin typeface="微软雅黑" panose="020B0503020204020204" charset="-122"/>
                  <a:ea typeface="微软雅黑" panose="020B0503020204020204" charset="-122"/>
                </a:rPr>
                <a:t>四、</a:t>
              </a:r>
              <a:r>
                <a:rPr lang="zh-CN" sz="2000" b="1" dirty="0">
                  <a:solidFill>
                    <a:srgbClr val="FF0000"/>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a:extLst>
              <a:ext uri="{FF2B5EF4-FFF2-40B4-BE49-F238E27FC236}">
                <a16:creationId xmlns:a16="http://schemas.microsoft.com/office/drawing/2014/main" id="{C7898670-89CC-A167-3B18-1DAF3E259469}"/>
              </a:ext>
            </a:extLst>
          </p:cNvPr>
          <p:cNvGrpSpPr/>
          <p:nvPr/>
        </p:nvGrpSpPr>
        <p:grpSpPr>
          <a:xfrm>
            <a:off x="991920" y="2291432"/>
            <a:ext cx="7155815" cy="464185"/>
            <a:chOff x="2316" y="4509"/>
            <a:chExt cx="10104" cy="731"/>
          </a:xfrm>
        </p:grpSpPr>
        <p:grpSp>
          <p:nvGrpSpPr>
            <p:cNvPr id="34" name="组合 16">
              <a:extLst>
                <a:ext uri="{FF2B5EF4-FFF2-40B4-BE49-F238E27FC236}">
                  <a16:creationId xmlns:a16="http://schemas.microsoft.com/office/drawing/2014/main" id="{5A8A82EB-31A1-C90F-1639-BD5003D93644}"/>
                </a:ext>
              </a:extLst>
            </p:cNvPr>
            <p:cNvGrpSpPr/>
            <p:nvPr/>
          </p:nvGrpSpPr>
          <p:grpSpPr>
            <a:xfrm>
              <a:off x="2360" y="4515"/>
              <a:ext cx="10005" cy="725"/>
              <a:chOff x="3324" y="4005"/>
              <a:chExt cx="9188" cy="733"/>
            </a:xfrm>
            <a:solidFill>
              <a:srgbClr val="0186D1"/>
            </a:solidFill>
          </p:grpSpPr>
          <p:sp>
            <p:nvSpPr>
              <p:cNvPr id="37" name="任意多边形 36">
                <a:extLst>
                  <a:ext uri="{FF2B5EF4-FFF2-40B4-BE49-F238E27FC236}">
                    <a16:creationId xmlns:a16="http://schemas.microsoft.com/office/drawing/2014/main" id="{77ACA530-417D-B1BC-535A-A3CBBA55E8D3}"/>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a:extLst>
                  <a:ext uri="{FF2B5EF4-FFF2-40B4-BE49-F238E27FC236}">
                    <a16:creationId xmlns:a16="http://schemas.microsoft.com/office/drawing/2014/main" id="{BADE1533-14B0-F122-CD16-65D15E889300}"/>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a:extLst>
                  <a:ext uri="{FF2B5EF4-FFF2-40B4-BE49-F238E27FC236}">
                    <a16:creationId xmlns:a16="http://schemas.microsoft.com/office/drawing/2014/main" id="{33655976-2D9D-8E19-5C05-5B0404594533}"/>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a:extLst>
                  <a:ext uri="{FF2B5EF4-FFF2-40B4-BE49-F238E27FC236}">
                    <a16:creationId xmlns:a16="http://schemas.microsoft.com/office/drawing/2014/main" id="{3EC23F77-D70F-A8DD-CA15-00E59DEC3665}"/>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a:extLst>
                <a:ext uri="{FF2B5EF4-FFF2-40B4-BE49-F238E27FC236}">
                  <a16:creationId xmlns:a16="http://schemas.microsoft.com/office/drawing/2014/main" id="{A812D0D8-D5C2-A96A-CC68-0EE1C0D403C5}"/>
                </a:ext>
              </a:extLst>
            </p:cNvPr>
            <p:cNvSpPr txBox="1"/>
            <p:nvPr/>
          </p:nvSpPr>
          <p:spPr>
            <a:xfrm rot="2460000">
              <a:off x="2316" y="458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02</a:t>
              </a:r>
            </a:p>
          </p:txBody>
        </p:sp>
        <p:sp>
          <p:nvSpPr>
            <p:cNvPr id="59" name="文本框 11">
              <a:extLst>
                <a:ext uri="{FF2B5EF4-FFF2-40B4-BE49-F238E27FC236}">
                  <a16:creationId xmlns:a16="http://schemas.microsoft.com/office/drawing/2014/main" id="{BB82CCDA-15C9-A17F-C09B-F6FC271F9E63}"/>
                </a:ext>
              </a:extLst>
            </p:cNvPr>
            <p:cNvSpPr txBox="1"/>
            <p:nvPr/>
          </p:nvSpPr>
          <p:spPr>
            <a:xfrm>
              <a:off x="3972" y="4509"/>
              <a:ext cx="8448"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二、项目适用范围及主要内容</a:t>
              </a:r>
            </a:p>
          </p:txBody>
        </p:sp>
      </p:grpSp>
      <p:grpSp>
        <p:nvGrpSpPr>
          <p:cNvPr id="17" name="组合 16">
            <a:extLst>
              <a:ext uri="{FF2B5EF4-FFF2-40B4-BE49-F238E27FC236}">
                <a16:creationId xmlns:a16="http://schemas.microsoft.com/office/drawing/2014/main" id="{53B9E953-06F1-1F8B-5BAC-39ED0AEC4507}"/>
              </a:ext>
            </a:extLst>
          </p:cNvPr>
          <p:cNvGrpSpPr/>
          <p:nvPr/>
        </p:nvGrpSpPr>
        <p:grpSpPr>
          <a:xfrm>
            <a:off x="991920" y="2998187"/>
            <a:ext cx="7117080" cy="464185"/>
            <a:chOff x="2316" y="5859"/>
            <a:chExt cx="10049" cy="731"/>
          </a:xfrm>
        </p:grpSpPr>
        <p:grpSp>
          <p:nvGrpSpPr>
            <p:cNvPr id="60" name="组合 16">
              <a:extLst>
                <a:ext uri="{FF2B5EF4-FFF2-40B4-BE49-F238E27FC236}">
                  <a16:creationId xmlns:a16="http://schemas.microsoft.com/office/drawing/2014/main" id="{040B9C26-15C3-77C1-6417-E662C269DA06}"/>
                </a:ext>
              </a:extLst>
            </p:cNvPr>
            <p:cNvGrpSpPr/>
            <p:nvPr/>
          </p:nvGrpSpPr>
          <p:grpSpPr>
            <a:xfrm>
              <a:off x="2360" y="5865"/>
              <a:ext cx="10005" cy="725"/>
              <a:chOff x="3324" y="4005"/>
              <a:chExt cx="9188" cy="733"/>
            </a:xfrm>
            <a:solidFill>
              <a:srgbClr val="0186D1"/>
            </a:solidFill>
          </p:grpSpPr>
          <p:sp>
            <p:nvSpPr>
              <p:cNvPr id="61" name="任意多边形 60">
                <a:extLst>
                  <a:ext uri="{FF2B5EF4-FFF2-40B4-BE49-F238E27FC236}">
                    <a16:creationId xmlns:a16="http://schemas.microsoft.com/office/drawing/2014/main" id="{BC017886-CFEF-1F01-CC3D-47FED5080EFA}"/>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a:extLst>
                  <a:ext uri="{FF2B5EF4-FFF2-40B4-BE49-F238E27FC236}">
                    <a16:creationId xmlns:a16="http://schemas.microsoft.com/office/drawing/2014/main" id="{07F2A4B4-397B-642F-6D6B-4F913A1DDDA0}"/>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a:extLst>
                  <a:ext uri="{FF2B5EF4-FFF2-40B4-BE49-F238E27FC236}">
                    <a16:creationId xmlns:a16="http://schemas.microsoft.com/office/drawing/2014/main" id="{1A97DD9C-1C80-1BB5-E680-13555BDD6178}"/>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a:extLst>
                  <a:ext uri="{FF2B5EF4-FFF2-40B4-BE49-F238E27FC236}">
                    <a16:creationId xmlns:a16="http://schemas.microsoft.com/office/drawing/2014/main" id="{40100EE3-25E0-5DA7-9EB5-7155D6F029A5}"/>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a:extLst>
                <a:ext uri="{FF2B5EF4-FFF2-40B4-BE49-F238E27FC236}">
                  <a16:creationId xmlns:a16="http://schemas.microsoft.com/office/drawing/2014/main" id="{8D86215A-BF18-CE56-E6C5-7DF7FFAEF058}"/>
                </a:ext>
              </a:extLst>
            </p:cNvPr>
            <p:cNvSpPr txBox="1"/>
            <p:nvPr/>
          </p:nvSpPr>
          <p:spPr>
            <a:xfrm rot="2460000">
              <a:off x="2316" y="593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03</a:t>
              </a:r>
            </a:p>
          </p:txBody>
        </p:sp>
        <p:sp>
          <p:nvSpPr>
            <p:cNvPr id="66" name="文本框 11">
              <a:extLst>
                <a:ext uri="{FF2B5EF4-FFF2-40B4-BE49-F238E27FC236}">
                  <a16:creationId xmlns:a16="http://schemas.microsoft.com/office/drawing/2014/main" id="{35B4B425-6734-018C-3AB5-371CDAF7C882}"/>
                </a:ext>
              </a:extLst>
            </p:cNvPr>
            <p:cNvSpPr txBox="1"/>
            <p:nvPr/>
          </p:nvSpPr>
          <p:spPr>
            <a:xfrm>
              <a:off x="3976" y="5859"/>
              <a:ext cx="7487" cy="628"/>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三、项目制定过程</a:t>
              </a:r>
            </a:p>
          </p:txBody>
        </p:sp>
      </p:grpSp>
      <p:grpSp>
        <p:nvGrpSpPr>
          <p:cNvPr id="19" name="组合 18">
            <a:extLst>
              <a:ext uri="{FF2B5EF4-FFF2-40B4-BE49-F238E27FC236}">
                <a16:creationId xmlns:a16="http://schemas.microsoft.com/office/drawing/2014/main" id="{05AEC9F9-8730-5687-C933-AA592CE8B77F}"/>
              </a:ext>
            </a:extLst>
          </p:cNvPr>
          <p:cNvGrpSpPr/>
          <p:nvPr/>
        </p:nvGrpSpPr>
        <p:grpSpPr>
          <a:xfrm>
            <a:off x="988110" y="4411697"/>
            <a:ext cx="7120255" cy="464185"/>
            <a:chOff x="2263" y="8438"/>
            <a:chExt cx="10062" cy="731"/>
          </a:xfrm>
        </p:grpSpPr>
        <p:grpSp>
          <p:nvGrpSpPr>
            <p:cNvPr id="3" name="组合 16">
              <a:extLst>
                <a:ext uri="{FF2B5EF4-FFF2-40B4-BE49-F238E27FC236}">
                  <a16:creationId xmlns:a16="http://schemas.microsoft.com/office/drawing/2014/main" id="{DB6DB124-9266-BA6F-E702-1E1166F1475F}"/>
                </a:ext>
              </a:extLst>
            </p:cNvPr>
            <p:cNvGrpSpPr/>
            <p:nvPr/>
          </p:nvGrpSpPr>
          <p:grpSpPr>
            <a:xfrm>
              <a:off x="2308" y="8444"/>
              <a:ext cx="10017" cy="725"/>
              <a:chOff x="3324" y="4005"/>
              <a:chExt cx="9188" cy="733"/>
            </a:xfrm>
            <a:solidFill>
              <a:srgbClr val="0186D1"/>
            </a:solidFill>
          </p:grpSpPr>
          <p:sp>
            <p:nvSpPr>
              <p:cNvPr id="7" name="任意多边形 6">
                <a:extLst>
                  <a:ext uri="{FF2B5EF4-FFF2-40B4-BE49-F238E27FC236}">
                    <a16:creationId xmlns:a16="http://schemas.microsoft.com/office/drawing/2014/main" id="{F3208C68-9B89-58AA-F111-1E75C5336DAF}"/>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a:extLst>
                  <a:ext uri="{FF2B5EF4-FFF2-40B4-BE49-F238E27FC236}">
                    <a16:creationId xmlns:a16="http://schemas.microsoft.com/office/drawing/2014/main" id="{BE2453B4-210C-6DED-0A48-6CE68B4A44C2}"/>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a:extLst>
                  <a:ext uri="{FF2B5EF4-FFF2-40B4-BE49-F238E27FC236}">
                    <a16:creationId xmlns:a16="http://schemas.microsoft.com/office/drawing/2014/main" id="{D6C35BD0-0B21-8D3E-5580-80B5B9061AA9}"/>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a:extLst>
                  <a:ext uri="{FF2B5EF4-FFF2-40B4-BE49-F238E27FC236}">
                    <a16:creationId xmlns:a16="http://schemas.microsoft.com/office/drawing/2014/main" id="{4A7A1A99-0537-BE98-31CA-D98BDFCE6E18}"/>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a:extLst>
                <a:ext uri="{FF2B5EF4-FFF2-40B4-BE49-F238E27FC236}">
                  <a16:creationId xmlns:a16="http://schemas.microsoft.com/office/drawing/2014/main" id="{C68ADE93-F324-182E-25C2-702B2343E43E}"/>
                </a:ext>
              </a:extLst>
            </p:cNvPr>
            <p:cNvSpPr txBox="1"/>
            <p:nvPr/>
          </p:nvSpPr>
          <p:spPr>
            <a:xfrm rot="2460000">
              <a:off x="2263" y="8515"/>
              <a:ext cx="782"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05</a:t>
              </a:r>
            </a:p>
          </p:txBody>
        </p:sp>
        <p:sp>
          <p:nvSpPr>
            <p:cNvPr id="14" name="文本框 11">
              <a:extLst>
                <a:ext uri="{FF2B5EF4-FFF2-40B4-BE49-F238E27FC236}">
                  <a16:creationId xmlns:a16="http://schemas.microsoft.com/office/drawing/2014/main" id="{37C72EB5-EF94-2C54-366F-966FB9AF33EE}"/>
                </a:ext>
              </a:extLst>
            </p:cNvPr>
            <p:cNvSpPr txBox="1"/>
            <p:nvPr/>
          </p:nvSpPr>
          <p:spPr>
            <a:xfrm>
              <a:off x="3928" y="8438"/>
              <a:ext cx="7637"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a:extLst>
              <a:ext uri="{FF2B5EF4-FFF2-40B4-BE49-F238E27FC236}">
                <a16:creationId xmlns:a16="http://schemas.microsoft.com/office/drawing/2014/main" id="{A6E8042C-DCB5-67F0-52E7-DA903C6A8807}"/>
              </a:ext>
            </a:extLst>
          </p:cNvPr>
          <p:cNvGrpSpPr/>
          <p:nvPr/>
        </p:nvGrpSpPr>
        <p:grpSpPr>
          <a:xfrm>
            <a:off x="971600" y="5053682"/>
            <a:ext cx="7120890" cy="463550"/>
            <a:chOff x="2289" y="7221"/>
            <a:chExt cx="10062" cy="731"/>
          </a:xfrm>
        </p:grpSpPr>
        <p:grpSp>
          <p:nvGrpSpPr>
            <p:cNvPr id="21" name="组合 16">
              <a:extLst>
                <a:ext uri="{FF2B5EF4-FFF2-40B4-BE49-F238E27FC236}">
                  <a16:creationId xmlns:a16="http://schemas.microsoft.com/office/drawing/2014/main" id="{398A2F50-FEC5-35C0-CEC3-1F93850B0D37}"/>
                </a:ext>
              </a:extLst>
            </p:cNvPr>
            <p:cNvGrpSpPr/>
            <p:nvPr/>
          </p:nvGrpSpPr>
          <p:grpSpPr>
            <a:xfrm>
              <a:off x="2334" y="7227"/>
              <a:ext cx="10017" cy="725"/>
              <a:chOff x="3324" y="4005"/>
              <a:chExt cx="9188" cy="733"/>
            </a:xfrm>
            <a:solidFill>
              <a:srgbClr val="0186D1"/>
            </a:solidFill>
          </p:grpSpPr>
          <p:sp>
            <p:nvSpPr>
              <p:cNvPr id="23" name="任意多边形 22">
                <a:extLst>
                  <a:ext uri="{FF2B5EF4-FFF2-40B4-BE49-F238E27FC236}">
                    <a16:creationId xmlns:a16="http://schemas.microsoft.com/office/drawing/2014/main" id="{5B2EF362-BBEF-21F5-C7B2-8D2051CA897D}"/>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a:extLst>
                  <a:ext uri="{FF2B5EF4-FFF2-40B4-BE49-F238E27FC236}">
                    <a16:creationId xmlns:a16="http://schemas.microsoft.com/office/drawing/2014/main" id="{20E00930-8A08-B6C8-0723-BA156AE078DD}"/>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a:extLst>
                  <a:ext uri="{FF2B5EF4-FFF2-40B4-BE49-F238E27FC236}">
                    <a16:creationId xmlns:a16="http://schemas.microsoft.com/office/drawing/2014/main" id="{8F380B2D-6771-5B29-7F60-34E33999EB2E}"/>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a:extLst>
                  <a:ext uri="{FF2B5EF4-FFF2-40B4-BE49-F238E27FC236}">
                    <a16:creationId xmlns:a16="http://schemas.microsoft.com/office/drawing/2014/main" id="{F9C1C8D2-7C43-86E5-5A8C-6CDCBC6AE80C}"/>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a:extLst>
                <a:ext uri="{FF2B5EF4-FFF2-40B4-BE49-F238E27FC236}">
                  <a16:creationId xmlns:a16="http://schemas.microsoft.com/office/drawing/2014/main" id="{1A9F33C6-6A73-86D6-4BB5-C2F07013158B}"/>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06</a:t>
              </a:r>
            </a:p>
          </p:txBody>
        </p:sp>
        <p:sp>
          <p:nvSpPr>
            <p:cNvPr id="28" name="文本框 11">
              <a:extLst>
                <a:ext uri="{FF2B5EF4-FFF2-40B4-BE49-F238E27FC236}">
                  <a16:creationId xmlns:a16="http://schemas.microsoft.com/office/drawing/2014/main" id="{B64580E9-9BCE-789C-0540-D089CEA67AA2}"/>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六、</a:t>
              </a:r>
              <a:r>
                <a:rPr lang="zh-CN" altLang="en-US" sz="2000" b="1" dirty="0">
                  <a:solidFill>
                    <a:schemeClr val="bg1"/>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1573155734"/>
      </p:ext>
    </p:extLst>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800354" y="202610"/>
            <a:ext cx="6228080" cy="52197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a:sym typeface="+mn-ea"/>
              </a:rPr>
              <a:t/>
            </a:r>
            <a:r>
              <a:rPr sz="2800" b="1">
                <a:solidFill>
                  <a:srgbClr val="FFFFFF"/>
                </a:solidFill>
                <a:latin typeface="微软雅黑"/>
                <a:ea typeface="微软雅黑"/>
              </a:rPr>
              <a:t>四、国内外先进性、创新性、产业化情况</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536574" y="1052195"/>
            <a:ext cx="3315345" cy="46166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rPr>
              <a:t/>
            </a:r>
            <a:r>
              <a:rPr sz="2400" b="1">
                <a:solidFill>
                  <a:srgbClr val="FFFFFF"/>
                </a:solidFill>
                <a:latin typeface="微软雅黑"/>
                <a:ea typeface="微软雅黑"/>
              </a:rPr>
              <a:t>国内外先进性和创新分析</a:t>
            </a:r>
          </a:p>
        </p:txBody>
      </p:sp>
      <p:sp>
        <p:nvSpPr>
          <p:cNvPr id="2" name="Rectangle 1">
            <a:extLst>
              <a:ext uri="{FF2B5EF4-FFF2-40B4-BE49-F238E27FC236}">
                <a16:creationId xmlns:a16="http://schemas.microsoft.com/office/drawing/2014/main" id="{E1FA3D90-0666-FB46-E729-4079681BFE30}"/>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目前国际暂无针对医疗器械核心部件压力传感器的专用产品标准，国内通用标准体系较成熟但无法覆盖医用呼吸机特殊需求。本标准是</a:t>
            </a:r>
            <a:r>
              <a:rPr sz="2000" b="1">
                <a:solidFill>
                  <a:srgbClr val="FF0000"/>
                </a:solidFill>
                <a:latin typeface="微软雅黑"/>
                <a:ea typeface="微软雅黑"/>
              </a:rPr>
              <a:t>国内首个</a:t>
            </a:r>
            <a:r>
              <a:rPr sz="2000" b="1">
                <a:solidFill>
                  <a:srgbClr val="0070C0"/>
                </a:solidFill>
                <a:latin typeface="微软雅黑"/>
                <a:ea typeface="微软雅黑"/>
              </a:rPr>
              <a:t>针对医用呼吸机压力传感器制定的团体标准，</a:t>
            </a:r>
            <a:r>
              <a:rPr sz="2000" b="1">
                <a:solidFill>
                  <a:srgbClr val="FF0000"/>
                </a:solidFill>
                <a:latin typeface="微软雅黑"/>
                <a:ea typeface="微软雅黑"/>
              </a:rPr>
              <a:t>填补</a:t>
            </a:r>
            <a:r>
              <a:rPr sz="2000" b="1">
                <a:solidFill>
                  <a:srgbClr val="0070C0"/>
                </a:solidFill>
                <a:latin typeface="微软雅黑"/>
                <a:ea typeface="微软雅黑"/>
              </a:rPr>
              <a:t>了该细分领域的</a:t>
            </a:r>
            <a:r>
              <a:rPr sz="2000" b="1">
                <a:solidFill>
                  <a:srgbClr val="FF0000"/>
                </a:solidFill>
                <a:latin typeface="微软雅黑"/>
                <a:ea typeface="微软雅黑"/>
              </a:rPr>
              <a:t>标准空白</a:t>
            </a:r>
            <a:r>
              <a:rPr sz="2000" b="1">
                <a:solidFill>
                  <a:srgbClr val="0070C0"/>
                </a:solidFill>
                <a:latin typeface="微软雅黑"/>
                <a:ea typeface="微软雅黑"/>
              </a:rPr>
              <a:t>，具有较强的创新性和先进性。</a:t>
            </a:r>
          </a:p>
        </p:txBody>
      </p:sp>
      <p:graphicFrame>
        <p:nvGraphicFramePr>
          <p:cNvPr id="48" name="Table 47"/>
          <p:cNvGraphicFramePr>
            <a:graphicFrameLocks noGrp="1"/>
          </p:cNvGraphicFramePr>
          <p:nvPr/>
        </p:nvGraphicFramePr>
        <p:xfrm>
          <a:off x="422001" y="3200000"/>
          <a:ext cx="8299997" cy="2220000"/>
        </p:xfrm>
        <a:graphic>
          <a:graphicData uri="http://schemas.openxmlformats.org/drawingml/2006/table">
            <a:tbl>
              <a:tblPr firstRow="1" bandRow="0" lastRow="0" bandCol="0">
                <a:tableStyleId>{5C22544A-7EE6-4342-B048-85BDC9FD1C3A}</a:tableStyleId>
              </a:tblPr>
              <a:tblGrid>
                <a:gridCol w="2489999"/>
                <a:gridCol w="1936666"/>
                <a:gridCol w="1936666"/>
                <a:gridCol w="1936666"/>
              </a:tblGrid>
              <a:tr h="370000">
                <a:tc>
                  <a:txBody>
                    <a:bodyPr/>
                    <a:lstStyle/>
                    <a:p>
                      <a:pPr algn="ctr"/>
                      <a:r>
                        <a:rPr sz="1400" b="1">
                          <a:solidFill>
                            <a:srgbClr val="FFFFFF"/>
                          </a:solidFill>
                          <a:latin typeface="微软雅黑"/>
                          <a:ea typeface="微软雅黑"/>
                        </a:rPr>
                        <a:t>标准/领域</a:t>
                      </a:r>
                    </a:p>
                  </a:txBody>
                  <a:tcPr anchor="ctr">
                    <a:solidFill>
                      <a:srgbClr val="0070C0"/>
                    </a:solidFill>
                  </a:tcPr>
                </a:tc>
                <a:tc>
                  <a:txBody>
                    <a:bodyPr/>
                    <a:lstStyle/>
                    <a:p>
                      <a:pPr algn="ctr"/>
                      <a:r>
                        <a:rPr sz="1400" b="1">
                          <a:solidFill>
                            <a:srgbClr val="FFFFFF"/>
                          </a:solidFill>
                          <a:latin typeface="微软雅黑"/>
                          <a:ea typeface="微软雅黑"/>
                        </a:rPr>
                        <a:t>适用范围</a:t>
                      </a:r>
                    </a:p>
                  </a:txBody>
                  <a:tcPr anchor="ctr">
                    <a:solidFill>
                      <a:srgbClr val="0070C0"/>
                    </a:solidFill>
                  </a:tcPr>
                </a:tc>
                <a:tc>
                  <a:txBody>
                    <a:bodyPr/>
                    <a:lstStyle/>
                    <a:p>
                      <a:pPr algn="ctr"/>
                      <a:r>
                        <a:rPr sz="1400" b="1">
                          <a:solidFill>
                            <a:srgbClr val="FFFFFF"/>
                          </a:solidFill>
                          <a:latin typeface="微软雅黑"/>
                          <a:ea typeface="微软雅黑"/>
                        </a:rPr>
                        <a:t>是否覆盖医用
呼吸机需求</a:t>
                      </a:r>
                    </a:p>
                  </a:txBody>
                  <a:tcPr anchor="ctr">
                    <a:solidFill>
                      <a:srgbClr val="0070C0"/>
                    </a:solidFill>
                  </a:tcPr>
                </a:tc>
                <a:tc>
                  <a:txBody>
                    <a:bodyPr/>
                    <a:lstStyle/>
                    <a:p>
                      <a:pPr algn="ctr"/>
                      <a:r>
                        <a:rPr sz="1400" b="1">
                          <a:solidFill>
                            <a:srgbClr val="FFFFFF"/>
                          </a:solidFill>
                          <a:latin typeface="微软雅黑"/>
                          <a:ea typeface="微软雅黑"/>
                        </a:rPr>
                        <a:t>不足之处</a:t>
                      </a:r>
                    </a:p>
                  </a:txBody>
                  <a:tcPr anchor="ctr">
                    <a:solidFill>
                      <a:srgbClr val="0070C0"/>
                    </a:solidFill>
                  </a:tcPr>
                </a:tc>
              </a:tr>
              <a:tr h="370000">
                <a:tc>
                  <a:txBody>
                    <a:bodyPr/>
                    <a:lstStyle/>
                    <a:p>
                      <a:pPr algn="l"/>
                      <a:r>
                        <a:rPr sz="1200" b="0">
                          <a:solidFill>
                            <a:srgbClr val="000000"/>
                          </a:solidFill>
                          <a:latin typeface="微软雅黑"/>
                          <a:ea typeface="微软雅黑"/>
                        </a:rPr>
                        <a:t>GB/T 15478-2015
压力传感器性能试验方法</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通用压力传感器</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否</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未考虑医用气体兼容性
及生物学评价</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JJG 860-2015
压力传感器(静态)</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计量检定</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否</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缺乏循环寿命、
环境适应性等指标</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GB 9706.212-2020
重症护理呼吸机</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整机安全性能</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部分涉及</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无单独传感器标准</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国际标准</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无对应标准</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不适用</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暂无此类产品标准</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本标准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医用呼吸机
压力传感器</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是</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填补空白</a:t>
                      </a:r>
                    </a:p>
                  </a:txBody>
                  <a:tcPr anchor="ctr" marL="91440" marR="91440" marT="45720" marB="45720">
                    <a:solidFill>
                      <a:srgbClr val="D9E2F3"/>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800354" y="202610"/>
            <a:ext cx="6228080" cy="52197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a:sym typeface="+mn-ea"/>
              </a:rPr>
              <a:t/>
            </a:r>
            <a:r>
              <a:rPr sz="2800" b="1">
                <a:solidFill>
                  <a:srgbClr val="FFFFFF"/>
                </a:solidFill>
                <a:latin typeface="微软雅黑"/>
                <a:ea typeface="微软雅黑"/>
              </a:rPr>
              <a:t>四、国内外先进性、创新性、产业化情况</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7" name="文本框 6">
            <a:extLst>
              <a:ext uri="{FF2B5EF4-FFF2-40B4-BE49-F238E27FC236}">
                <a16:creationId xmlns:a16="http://schemas.microsoft.com/office/drawing/2014/main" id="{596A01EF-F462-43AF-A122-C4F20C5A0A9B}"/>
              </a:ext>
            </a:extLst>
          </p:cNvPr>
          <p:cNvSpPr txBox="1"/>
          <p:nvPr/>
        </p:nvSpPr>
        <p:spPr>
          <a:xfrm>
            <a:off x="467544" y="1052736"/>
            <a:ext cx="1755140"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rPr>
              <a:t/>
            </a:r>
            <a:r>
              <a:rPr sz="2400" b="1">
                <a:solidFill>
                  <a:srgbClr val="FFFFFF"/>
                </a:solidFill>
                <a:latin typeface="微软雅黑"/>
                <a:ea typeface="微软雅黑"/>
              </a:rPr>
              <a:t>产业化情况</a:t>
            </a:r>
          </a:p>
        </p:txBody>
      </p:sp>
      <p:sp>
        <p:nvSpPr>
          <p:cNvPr id="2" name="Rectangle 1">
            <a:extLst>
              <a:ext uri="{FF2B5EF4-FFF2-40B4-BE49-F238E27FC236}">
                <a16:creationId xmlns:a16="http://schemas.microsoft.com/office/drawing/2014/main" id="{04E2BB4E-8F8C-E1CC-36F5-18077BBB8E99}"/>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当前国内医用呼吸机核心压力传感器</a:t>
            </a:r>
            <a:r>
              <a:rPr sz="2000" b="1">
                <a:solidFill>
                  <a:srgbClr val="FF0000"/>
                </a:solidFill>
                <a:latin typeface="微软雅黑"/>
                <a:ea typeface="微软雅黑"/>
              </a:rPr>
              <a:t>80%</a:t>
            </a:r>
            <a:r>
              <a:rPr sz="2000" b="1">
                <a:solidFill>
                  <a:srgbClr val="0070C0"/>
                </a:solidFill>
                <a:latin typeface="微软雅黑"/>
                <a:ea typeface="微软雅黑"/>
              </a:rPr>
              <a:t>由霍尼韦尔、First Sensor、TE等国外厂家供应，受限于标准缺失，国产传感器工程化性能参数与医疗装备需求存在差距；本标准将贯通“</a:t>
            </a:r>
            <a:r>
              <a:rPr sz="2000" b="1">
                <a:solidFill>
                  <a:srgbClr val="FF0000"/>
                </a:solidFill>
                <a:latin typeface="微软雅黑"/>
                <a:ea typeface="微软雅黑"/>
              </a:rPr>
              <a:t>技术创新—工程化—产业化</a:t>
            </a:r>
            <a:r>
              <a:rPr sz="2000" b="1">
                <a:solidFill>
                  <a:srgbClr val="0070C0"/>
                </a:solidFill>
                <a:latin typeface="微软雅黑"/>
                <a:ea typeface="微软雅黑"/>
              </a:rPr>
              <a:t>”全链条，是推动国产压力传感器产业发展的重要抓手。</a:t>
            </a:r>
          </a:p>
        </p:txBody>
      </p:sp>
      <p:pic>
        <p:nvPicPr>
          <p:cNvPr id="48" name="Picture 47" descr="Slide14-产业链.jpg"/>
          <p:cNvPicPr>
            <a:picLocks noChangeAspect="1"/>
          </p:cNvPicPr>
          <p:nvPr/>
        </p:nvPicPr>
        <p:blipFill>
          <a:blip r:embed="rId3"/>
          <a:stretch>
            <a:fillRect/>
          </a:stretch>
        </p:blipFill>
        <p:spPr>
          <a:xfrm>
            <a:off x="469116" y="3085953"/>
            <a:ext cx="8093672" cy="3200000"/>
          </a:xfrm>
          <a:prstGeom prst="rect">
            <a:avLst/>
          </a:prstGeom>
        </p:spPr>
      </p:pic>
    </p:spTree>
    <p:extLst>
      <p:ext uri="{BB962C8B-B14F-4D97-AF65-F5344CB8AC3E}">
        <p14:creationId xmlns:p14="http://schemas.microsoft.com/office/powerpoint/2010/main" val="1306039990"/>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62B4-71DD-8228-6D36-B927A1119DAE}"/>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63F41EA7-B4F4-AA3F-685D-F632BCDC6782}"/>
              </a:ext>
            </a:extLst>
          </p:cNvPr>
          <p:cNvGrpSpPr/>
          <p:nvPr/>
        </p:nvGrpSpPr>
        <p:grpSpPr>
          <a:xfrm>
            <a:off x="994460" y="1584042"/>
            <a:ext cx="7113905" cy="471805"/>
            <a:chOff x="2323" y="3083"/>
            <a:chExt cx="10043" cy="725"/>
          </a:xfrm>
        </p:grpSpPr>
        <p:grpSp>
          <p:nvGrpSpPr>
            <p:cNvPr id="2" name="组合 35">
              <a:extLst>
                <a:ext uri="{FF2B5EF4-FFF2-40B4-BE49-F238E27FC236}">
                  <a16:creationId xmlns:a16="http://schemas.microsoft.com/office/drawing/2014/main" id="{FF971B8D-6E3B-1250-3232-E300B8B71001}"/>
                </a:ext>
              </a:extLst>
            </p:cNvPr>
            <p:cNvGrpSpPr/>
            <p:nvPr/>
          </p:nvGrpSpPr>
          <p:grpSpPr>
            <a:xfrm>
              <a:off x="2353" y="3083"/>
              <a:ext cx="10013" cy="725"/>
              <a:chOff x="3324" y="4005"/>
              <a:chExt cx="9188" cy="733"/>
            </a:xfrm>
            <a:solidFill>
              <a:srgbClr val="0186D1"/>
            </a:solidFill>
          </p:grpSpPr>
          <p:sp>
            <p:nvSpPr>
              <p:cNvPr id="4" name="任意多边形 3">
                <a:extLst>
                  <a:ext uri="{FF2B5EF4-FFF2-40B4-BE49-F238E27FC236}">
                    <a16:creationId xmlns:a16="http://schemas.microsoft.com/office/drawing/2014/main" id="{8D6008EF-36D3-2F14-CC05-8AA402426C22}"/>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a:extLst>
                  <a:ext uri="{FF2B5EF4-FFF2-40B4-BE49-F238E27FC236}">
                    <a16:creationId xmlns:a16="http://schemas.microsoft.com/office/drawing/2014/main" id="{13F2ED6E-816F-0452-43FD-B1DF8FA0B20B}"/>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a:extLst>
                  <a:ext uri="{FF2B5EF4-FFF2-40B4-BE49-F238E27FC236}">
                    <a16:creationId xmlns:a16="http://schemas.microsoft.com/office/drawing/2014/main" id="{90FBDC93-AC3A-B64E-7B7F-B1067D552733}"/>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a:extLst>
                  <a:ext uri="{FF2B5EF4-FFF2-40B4-BE49-F238E27FC236}">
                    <a16:creationId xmlns:a16="http://schemas.microsoft.com/office/drawing/2014/main" id="{6EDF7C76-40B6-42CB-6E6F-694091082EE5}"/>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a:extLst>
                <a:ext uri="{FF2B5EF4-FFF2-40B4-BE49-F238E27FC236}">
                  <a16:creationId xmlns:a16="http://schemas.microsoft.com/office/drawing/2014/main" id="{A8BAB7FA-D492-9DB2-6573-ADA7F3010475}"/>
                </a:ext>
              </a:extLst>
            </p:cNvPr>
            <p:cNvSpPr txBox="1"/>
            <p:nvPr/>
          </p:nvSpPr>
          <p:spPr>
            <a:xfrm>
              <a:off x="3910" y="3083"/>
              <a:ext cx="8183" cy="613"/>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a:extLst>
                <a:ext uri="{FF2B5EF4-FFF2-40B4-BE49-F238E27FC236}">
                  <a16:creationId xmlns:a16="http://schemas.microsoft.com/office/drawing/2014/main" id="{53EEACE4-62B7-F1B1-1A33-541EC7A27050}"/>
                </a:ext>
              </a:extLst>
            </p:cNvPr>
            <p:cNvSpPr txBox="1"/>
            <p:nvPr/>
          </p:nvSpPr>
          <p:spPr>
            <a:xfrm rot="2460000">
              <a:off x="2323" y="3141"/>
              <a:ext cx="846" cy="566"/>
            </a:xfrm>
            <a:prstGeom prst="rect">
              <a:avLst/>
            </a:prstGeom>
            <a:noFill/>
          </p:spPr>
          <p:txBody>
            <a:bodyPr wrap="square" rtlCol="0">
              <a:spAutoFit/>
            </a:bodyPr>
            <a:lstStyle/>
            <a:p>
              <a:r>
                <a:rPr lang="en-US" altLang="zh-CN" sz="1800" b="1">
                  <a:solidFill>
                    <a:schemeClr val="bg1"/>
                  </a:solidFill>
                  <a:latin typeface="微软雅黑" panose="020B0503020204020204" charset="-122"/>
                  <a:ea typeface="微软雅黑" panose="020B0503020204020204" charset="-122"/>
                </a:rPr>
                <a:t>01</a:t>
              </a:r>
            </a:p>
          </p:txBody>
        </p:sp>
      </p:grpSp>
      <p:sp>
        <p:nvSpPr>
          <p:cNvPr id="8" name="标题 7">
            <a:extLst>
              <a:ext uri="{FF2B5EF4-FFF2-40B4-BE49-F238E27FC236}">
                <a16:creationId xmlns:a16="http://schemas.microsoft.com/office/drawing/2014/main" id="{DB57790B-8A84-2B32-BE75-C105285F71E1}"/>
              </a:ext>
            </a:extLst>
          </p:cNvPr>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a:extLst>
              <a:ext uri="{FF2B5EF4-FFF2-40B4-BE49-F238E27FC236}">
                <a16:creationId xmlns:a16="http://schemas.microsoft.com/office/drawing/2014/main" id="{443BCD80-3AA5-933B-FB3E-7C1F123CF7DD}"/>
              </a:ext>
            </a:extLst>
          </p:cNvPr>
          <p:cNvGrpSpPr/>
          <p:nvPr/>
        </p:nvGrpSpPr>
        <p:grpSpPr>
          <a:xfrm>
            <a:off x="988110" y="3706847"/>
            <a:ext cx="7120890" cy="463550"/>
            <a:chOff x="2289" y="7221"/>
            <a:chExt cx="10062" cy="731"/>
          </a:xfrm>
        </p:grpSpPr>
        <p:grpSp>
          <p:nvGrpSpPr>
            <p:cNvPr id="41" name="组合 16">
              <a:extLst>
                <a:ext uri="{FF2B5EF4-FFF2-40B4-BE49-F238E27FC236}">
                  <a16:creationId xmlns:a16="http://schemas.microsoft.com/office/drawing/2014/main" id="{967628C0-F510-2389-61ED-4C17D24CDA79}"/>
                </a:ext>
              </a:extLst>
            </p:cNvPr>
            <p:cNvGrpSpPr/>
            <p:nvPr/>
          </p:nvGrpSpPr>
          <p:grpSpPr>
            <a:xfrm>
              <a:off x="2334" y="7227"/>
              <a:ext cx="10017" cy="725"/>
              <a:chOff x="3324" y="4005"/>
              <a:chExt cx="9188" cy="733"/>
            </a:xfrm>
            <a:solidFill>
              <a:srgbClr val="0186D1"/>
            </a:solidFill>
          </p:grpSpPr>
          <p:sp>
            <p:nvSpPr>
              <p:cNvPr id="42" name="任意多边形 41">
                <a:extLst>
                  <a:ext uri="{FF2B5EF4-FFF2-40B4-BE49-F238E27FC236}">
                    <a16:creationId xmlns:a16="http://schemas.microsoft.com/office/drawing/2014/main" id="{2A871A57-61C7-690A-06AC-4EC41D268899}"/>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a:extLst>
                  <a:ext uri="{FF2B5EF4-FFF2-40B4-BE49-F238E27FC236}">
                    <a16:creationId xmlns:a16="http://schemas.microsoft.com/office/drawing/2014/main" id="{DAE27879-C16D-A2A6-479E-FF96B52BCFFD}"/>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a:extLst>
                  <a:ext uri="{FF2B5EF4-FFF2-40B4-BE49-F238E27FC236}">
                    <a16:creationId xmlns:a16="http://schemas.microsoft.com/office/drawing/2014/main" id="{240AAD43-E96D-71F2-E36C-2685D4B57EB9}"/>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a:extLst>
                  <a:ext uri="{FF2B5EF4-FFF2-40B4-BE49-F238E27FC236}">
                    <a16:creationId xmlns:a16="http://schemas.microsoft.com/office/drawing/2014/main" id="{FC355580-3E6B-AA87-7785-42F09258CAD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a:extLst>
                <a:ext uri="{FF2B5EF4-FFF2-40B4-BE49-F238E27FC236}">
                  <a16:creationId xmlns:a16="http://schemas.microsoft.com/office/drawing/2014/main" id="{0B1CB950-9130-59D9-B274-996340FF0D11}"/>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04</a:t>
              </a:r>
            </a:p>
          </p:txBody>
        </p:sp>
        <p:sp>
          <p:nvSpPr>
            <p:cNvPr id="47" name="文本框 11">
              <a:extLst>
                <a:ext uri="{FF2B5EF4-FFF2-40B4-BE49-F238E27FC236}">
                  <a16:creationId xmlns:a16="http://schemas.microsoft.com/office/drawing/2014/main" id="{72055B87-6904-6EB9-FC77-067D870C5217}"/>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四、</a:t>
              </a:r>
              <a:r>
                <a:rPr lang="zh-CN" sz="2000" b="1" dirty="0">
                  <a:solidFill>
                    <a:schemeClr val="bg1"/>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a:extLst>
              <a:ext uri="{FF2B5EF4-FFF2-40B4-BE49-F238E27FC236}">
                <a16:creationId xmlns:a16="http://schemas.microsoft.com/office/drawing/2014/main" id="{712D48D8-B36C-B4DF-44C9-EE5073B27D00}"/>
              </a:ext>
            </a:extLst>
          </p:cNvPr>
          <p:cNvGrpSpPr/>
          <p:nvPr/>
        </p:nvGrpSpPr>
        <p:grpSpPr>
          <a:xfrm>
            <a:off x="991920" y="2291432"/>
            <a:ext cx="7155815" cy="464185"/>
            <a:chOff x="2316" y="4509"/>
            <a:chExt cx="10104" cy="731"/>
          </a:xfrm>
        </p:grpSpPr>
        <p:grpSp>
          <p:nvGrpSpPr>
            <p:cNvPr id="34" name="组合 16">
              <a:extLst>
                <a:ext uri="{FF2B5EF4-FFF2-40B4-BE49-F238E27FC236}">
                  <a16:creationId xmlns:a16="http://schemas.microsoft.com/office/drawing/2014/main" id="{9147E567-7EB4-45BA-3AE0-20A7D6EC811F}"/>
                </a:ext>
              </a:extLst>
            </p:cNvPr>
            <p:cNvGrpSpPr/>
            <p:nvPr/>
          </p:nvGrpSpPr>
          <p:grpSpPr>
            <a:xfrm>
              <a:off x="2360" y="4515"/>
              <a:ext cx="10005" cy="725"/>
              <a:chOff x="3324" y="4005"/>
              <a:chExt cx="9188" cy="733"/>
            </a:xfrm>
            <a:solidFill>
              <a:srgbClr val="0186D1"/>
            </a:solidFill>
          </p:grpSpPr>
          <p:sp>
            <p:nvSpPr>
              <p:cNvPr id="37" name="任意多边形 36">
                <a:extLst>
                  <a:ext uri="{FF2B5EF4-FFF2-40B4-BE49-F238E27FC236}">
                    <a16:creationId xmlns:a16="http://schemas.microsoft.com/office/drawing/2014/main" id="{B9D8B62E-119C-21D8-A616-BCA875E626A4}"/>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a:extLst>
                  <a:ext uri="{FF2B5EF4-FFF2-40B4-BE49-F238E27FC236}">
                    <a16:creationId xmlns:a16="http://schemas.microsoft.com/office/drawing/2014/main" id="{426BA353-FF54-DCD5-FBBA-C0E572E5BA41}"/>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a:extLst>
                  <a:ext uri="{FF2B5EF4-FFF2-40B4-BE49-F238E27FC236}">
                    <a16:creationId xmlns:a16="http://schemas.microsoft.com/office/drawing/2014/main" id="{5BF1BBD4-4D34-50AF-1FCD-952A4D44D3E5}"/>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a:extLst>
                  <a:ext uri="{FF2B5EF4-FFF2-40B4-BE49-F238E27FC236}">
                    <a16:creationId xmlns:a16="http://schemas.microsoft.com/office/drawing/2014/main" id="{3D69DDB2-0C38-093A-AE7D-87313FB1742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a:extLst>
                <a:ext uri="{FF2B5EF4-FFF2-40B4-BE49-F238E27FC236}">
                  <a16:creationId xmlns:a16="http://schemas.microsoft.com/office/drawing/2014/main" id="{5773CA2C-23F8-93CB-1072-27595A98D88B}"/>
                </a:ext>
              </a:extLst>
            </p:cNvPr>
            <p:cNvSpPr txBox="1"/>
            <p:nvPr/>
          </p:nvSpPr>
          <p:spPr>
            <a:xfrm rot="2460000">
              <a:off x="2316" y="458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02</a:t>
              </a:r>
            </a:p>
          </p:txBody>
        </p:sp>
        <p:sp>
          <p:nvSpPr>
            <p:cNvPr id="59" name="文本框 11">
              <a:extLst>
                <a:ext uri="{FF2B5EF4-FFF2-40B4-BE49-F238E27FC236}">
                  <a16:creationId xmlns:a16="http://schemas.microsoft.com/office/drawing/2014/main" id="{076E763F-6723-3A3D-9486-8055AFA12C37}"/>
                </a:ext>
              </a:extLst>
            </p:cNvPr>
            <p:cNvSpPr txBox="1"/>
            <p:nvPr/>
          </p:nvSpPr>
          <p:spPr>
            <a:xfrm>
              <a:off x="3972" y="4509"/>
              <a:ext cx="8448"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二、项目适用范围及主要内容</a:t>
              </a:r>
            </a:p>
          </p:txBody>
        </p:sp>
      </p:grpSp>
      <p:grpSp>
        <p:nvGrpSpPr>
          <p:cNvPr id="17" name="组合 16">
            <a:extLst>
              <a:ext uri="{FF2B5EF4-FFF2-40B4-BE49-F238E27FC236}">
                <a16:creationId xmlns:a16="http://schemas.microsoft.com/office/drawing/2014/main" id="{1969AD44-F29D-7008-66F3-0EC5C380B83C}"/>
              </a:ext>
            </a:extLst>
          </p:cNvPr>
          <p:cNvGrpSpPr/>
          <p:nvPr/>
        </p:nvGrpSpPr>
        <p:grpSpPr>
          <a:xfrm>
            <a:off x="991920" y="2998187"/>
            <a:ext cx="7117080" cy="464185"/>
            <a:chOff x="2316" y="5859"/>
            <a:chExt cx="10049" cy="731"/>
          </a:xfrm>
        </p:grpSpPr>
        <p:grpSp>
          <p:nvGrpSpPr>
            <p:cNvPr id="60" name="组合 16">
              <a:extLst>
                <a:ext uri="{FF2B5EF4-FFF2-40B4-BE49-F238E27FC236}">
                  <a16:creationId xmlns:a16="http://schemas.microsoft.com/office/drawing/2014/main" id="{ABDDDED5-40A2-46F1-DE91-F69734C661A8}"/>
                </a:ext>
              </a:extLst>
            </p:cNvPr>
            <p:cNvGrpSpPr/>
            <p:nvPr/>
          </p:nvGrpSpPr>
          <p:grpSpPr>
            <a:xfrm>
              <a:off x="2360" y="5865"/>
              <a:ext cx="10005" cy="725"/>
              <a:chOff x="3324" y="4005"/>
              <a:chExt cx="9188" cy="733"/>
            </a:xfrm>
            <a:solidFill>
              <a:srgbClr val="0186D1"/>
            </a:solidFill>
          </p:grpSpPr>
          <p:sp>
            <p:nvSpPr>
              <p:cNvPr id="61" name="任意多边形 60">
                <a:extLst>
                  <a:ext uri="{FF2B5EF4-FFF2-40B4-BE49-F238E27FC236}">
                    <a16:creationId xmlns:a16="http://schemas.microsoft.com/office/drawing/2014/main" id="{67080B69-B264-0DD3-65EF-28C162386829}"/>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a:extLst>
                  <a:ext uri="{FF2B5EF4-FFF2-40B4-BE49-F238E27FC236}">
                    <a16:creationId xmlns:a16="http://schemas.microsoft.com/office/drawing/2014/main" id="{A5C2BE68-7836-4062-A2D1-A65FAD4D68B6}"/>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a:extLst>
                  <a:ext uri="{FF2B5EF4-FFF2-40B4-BE49-F238E27FC236}">
                    <a16:creationId xmlns:a16="http://schemas.microsoft.com/office/drawing/2014/main" id="{AA8489DD-FE12-C961-FDB8-B43DCEB6B717}"/>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a:extLst>
                  <a:ext uri="{FF2B5EF4-FFF2-40B4-BE49-F238E27FC236}">
                    <a16:creationId xmlns:a16="http://schemas.microsoft.com/office/drawing/2014/main" id="{A4DA7F64-6748-764B-1D43-C443806763CB}"/>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a:extLst>
                <a:ext uri="{FF2B5EF4-FFF2-40B4-BE49-F238E27FC236}">
                  <a16:creationId xmlns:a16="http://schemas.microsoft.com/office/drawing/2014/main" id="{40651D87-4B81-C30C-177D-56C0F2BB7CE2}"/>
                </a:ext>
              </a:extLst>
            </p:cNvPr>
            <p:cNvSpPr txBox="1"/>
            <p:nvPr/>
          </p:nvSpPr>
          <p:spPr>
            <a:xfrm rot="2460000">
              <a:off x="2316" y="593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03</a:t>
              </a:r>
            </a:p>
          </p:txBody>
        </p:sp>
        <p:sp>
          <p:nvSpPr>
            <p:cNvPr id="66" name="文本框 11">
              <a:extLst>
                <a:ext uri="{FF2B5EF4-FFF2-40B4-BE49-F238E27FC236}">
                  <a16:creationId xmlns:a16="http://schemas.microsoft.com/office/drawing/2014/main" id="{8A3F6CF7-15FE-9AB1-BDCE-0003F14F20CA}"/>
                </a:ext>
              </a:extLst>
            </p:cNvPr>
            <p:cNvSpPr txBox="1"/>
            <p:nvPr/>
          </p:nvSpPr>
          <p:spPr>
            <a:xfrm>
              <a:off x="3976" y="5859"/>
              <a:ext cx="7487" cy="628"/>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三、项目制定过程</a:t>
              </a:r>
            </a:p>
          </p:txBody>
        </p:sp>
      </p:grpSp>
      <p:grpSp>
        <p:nvGrpSpPr>
          <p:cNvPr id="19" name="组合 18">
            <a:extLst>
              <a:ext uri="{FF2B5EF4-FFF2-40B4-BE49-F238E27FC236}">
                <a16:creationId xmlns:a16="http://schemas.microsoft.com/office/drawing/2014/main" id="{592CCE22-DE7A-4A55-DBD4-5502F8A50B72}"/>
              </a:ext>
            </a:extLst>
          </p:cNvPr>
          <p:cNvGrpSpPr/>
          <p:nvPr/>
        </p:nvGrpSpPr>
        <p:grpSpPr>
          <a:xfrm>
            <a:off x="988110" y="4411697"/>
            <a:ext cx="7120255" cy="464185"/>
            <a:chOff x="2263" y="8438"/>
            <a:chExt cx="10062" cy="731"/>
          </a:xfrm>
          <a:solidFill>
            <a:srgbClr val="FF0000"/>
          </a:solidFill>
        </p:grpSpPr>
        <p:grpSp>
          <p:nvGrpSpPr>
            <p:cNvPr id="3" name="组合 16">
              <a:extLst>
                <a:ext uri="{FF2B5EF4-FFF2-40B4-BE49-F238E27FC236}">
                  <a16:creationId xmlns:a16="http://schemas.microsoft.com/office/drawing/2014/main" id="{6B254325-29EA-E82F-6C19-5790D9254A7A}"/>
                </a:ext>
              </a:extLst>
            </p:cNvPr>
            <p:cNvGrpSpPr/>
            <p:nvPr/>
          </p:nvGrpSpPr>
          <p:grpSpPr>
            <a:xfrm>
              <a:off x="2308" y="8444"/>
              <a:ext cx="10017" cy="725"/>
              <a:chOff x="3324" y="4005"/>
              <a:chExt cx="9188" cy="733"/>
            </a:xfrm>
            <a:grpFill/>
          </p:grpSpPr>
          <p:sp>
            <p:nvSpPr>
              <p:cNvPr id="7" name="任意多边形 6">
                <a:extLst>
                  <a:ext uri="{FF2B5EF4-FFF2-40B4-BE49-F238E27FC236}">
                    <a16:creationId xmlns:a16="http://schemas.microsoft.com/office/drawing/2014/main" id="{E0071D48-DB19-1BDA-9B1F-F85F85B4021B}"/>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a:extLst>
                  <a:ext uri="{FF2B5EF4-FFF2-40B4-BE49-F238E27FC236}">
                    <a16:creationId xmlns:a16="http://schemas.microsoft.com/office/drawing/2014/main" id="{D186400B-626F-4733-3A40-FD9EF8EA3C91}"/>
                  </a:ext>
                </a:extLst>
              </p:cNvPr>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a:extLst>
                  <a:ext uri="{FF2B5EF4-FFF2-40B4-BE49-F238E27FC236}">
                    <a16:creationId xmlns:a16="http://schemas.microsoft.com/office/drawing/2014/main" id="{0CD16F4A-29DA-50F8-8E7B-2243B34992F4}"/>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a:extLst>
                  <a:ext uri="{FF2B5EF4-FFF2-40B4-BE49-F238E27FC236}">
                    <a16:creationId xmlns:a16="http://schemas.microsoft.com/office/drawing/2014/main" id="{816C3A5E-1ECD-4C7A-AF15-0CD077FD20F1}"/>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a:extLst>
                <a:ext uri="{FF2B5EF4-FFF2-40B4-BE49-F238E27FC236}">
                  <a16:creationId xmlns:a16="http://schemas.microsoft.com/office/drawing/2014/main" id="{64958949-81CE-D79B-3DD8-471A0B9EDEBC}"/>
                </a:ext>
              </a:extLst>
            </p:cNvPr>
            <p:cNvSpPr txBox="1"/>
            <p:nvPr/>
          </p:nvSpPr>
          <p:spPr>
            <a:xfrm rot="2460000">
              <a:off x="2263" y="8515"/>
              <a:ext cx="782" cy="580"/>
            </a:xfrm>
            <a:prstGeom prst="rect">
              <a:avLst/>
            </a:prstGeom>
            <a:grpFill/>
          </p:spPr>
          <p:txBody>
            <a:bodyPr wrap="square" rtlCol="0">
              <a:spAutoFit/>
            </a:bodyPr>
            <a:lstStyle/>
            <a:p>
              <a:r>
                <a:rPr lang="en-US" altLang="zh-CN" sz="1800" b="1" dirty="0">
                  <a:solidFill>
                    <a:srgbClr val="FF0000"/>
                  </a:solidFill>
                  <a:latin typeface="微软雅黑" panose="020B0503020204020204" charset="-122"/>
                  <a:ea typeface="微软雅黑" panose="020B0503020204020204" charset="-122"/>
                </a:rPr>
                <a:t>05</a:t>
              </a:r>
            </a:p>
          </p:txBody>
        </p:sp>
        <p:sp>
          <p:nvSpPr>
            <p:cNvPr id="14" name="文本框 11">
              <a:extLst>
                <a:ext uri="{FF2B5EF4-FFF2-40B4-BE49-F238E27FC236}">
                  <a16:creationId xmlns:a16="http://schemas.microsoft.com/office/drawing/2014/main" id="{B37154AC-FDBC-0CB6-8C9F-812E4DBB063D}"/>
                </a:ext>
              </a:extLst>
            </p:cNvPr>
            <p:cNvSpPr txBox="1"/>
            <p:nvPr/>
          </p:nvSpPr>
          <p:spPr>
            <a:xfrm>
              <a:off x="3928" y="8438"/>
              <a:ext cx="7637" cy="628"/>
            </a:xfrm>
            <a:prstGeom prst="rect">
              <a:avLst/>
            </a:prstGeom>
            <a:grp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a:extLst>
              <a:ext uri="{FF2B5EF4-FFF2-40B4-BE49-F238E27FC236}">
                <a16:creationId xmlns:a16="http://schemas.microsoft.com/office/drawing/2014/main" id="{57FCF7F8-E574-7319-2157-1F83474D8715}"/>
              </a:ext>
            </a:extLst>
          </p:cNvPr>
          <p:cNvGrpSpPr/>
          <p:nvPr/>
        </p:nvGrpSpPr>
        <p:grpSpPr>
          <a:xfrm>
            <a:off x="971600" y="5053682"/>
            <a:ext cx="7120890" cy="463550"/>
            <a:chOff x="2289" y="7221"/>
            <a:chExt cx="10062" cy="731"/>
          </a:xfrm>
        </p:grpSpPr>
        <p:grpSp>
          <p:nvGrpSpPr>
            <p:cNvPr id="21" name="组合 16">
              <a:extLst>
                <a:ext uri="{FF2B5EF4-FFF2-40B4-BE49-F238E27FC236}">
                  <a16:creationId xmlns:a16="http://schemas.microsoft.com/office/drawing/2014/main" id="{5ADA2E9B-0DE1-B6AC-03FE-F99EA587CA6B}"/>
                </a:ext>
              </a:extLst>
            </p:cNvPr>
            <p:cNvGrpSpPr/>
            <p:nvPr/>
          </p:nvGrpSpPr>
          <p:grpSpPr>
            <a:xfrm>
              <a:off x="2334" y="7227"/>
              <a:ext cx="10017" cy="725"/>
              <a:chOff x="3324" y="4005"/>
              <a:chExt cx="9188" cy="733"/>
            </a:xfrm>
            <a:solidFill>
              <a:srgbClr val="0186D1"/>
            </a:solidFill>
          </p:grpSpPr>
          <p:sp>
            <p:nvSpPr>
              <p:cNvPr id="23" name="任意多边形 22">
                <a:extLst>
                  <a:ext uri="{FF2B5EF4-FFF2-40B4-BE49-F238E27FC236}">
                    <a16:creationId xmlns:a16="http://schemas.microsoft.com/office/drawing/2014/main" id="{55A732B0-CBEE-2A49-67B3-78B4E7DDC87F}"/>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a:extLst>
                  <a:ext uri="{FF2B5EF4-FFF2-40B4-BE49-F238E27FC236}">
                    <a16:creationId xmlns:a16="http://schemas.microsoft.com/office/drawing/2014/main" id="{3DE72A94-0D13-2668-FD29-2157DD9ACABC}"/>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a:extLst>
                  <a:ext uri="{FF2B5EF4-FFF2-40B4-BE49-F238E27FC236}">
                    <a16:creationId xmlns:a16="http://schemas.microsoft.com/office/drawing/2014/main" id="{604CB55B-2FEA-2DA0-A484-B3DED631DEB3}"/>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a:extLst>
                  <a:ext uri="{FF2B5EF4-FFF2-40B4-BE49-F238E27FC236}">
                    <a16:creationId xmlns:a16="http://schemas.microsoft.com/office/drawing/2014/main" id="{DCADAAD6-0201-EE20-B646-39CFD9B4CFDA}"/>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a:extLst>
                <a:ext uri="{FF2B5EF4-FFF2-40B4-BE49-F238E27FC236}">
                  <a16:creationId xmlns:a16="http://schemas.microsoft.com/office/drawing/2014/main" id="{09D61578-CF0E-7186-AC37-C5AAE2DD6F40}"/>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06</a:t>
              </a:r>
            </a:p>
          </p:txBody>
        </p:sp>
        <p:sp>
          <p:nvSpPr>
            <p:cNvPr id="28" name="文本框 11">
              <a:extLst>
                <a:ext uri="{FF2B5EF4-FFF2-40B4-BE49-F238E27FC236}">
                  <a16:creationId xmlns:a16="http://schemas.microsoft.com/office/drawing/2014/main" id="{0526112D-AE72-F4AD-74C1-8912D95FCC3B}"/>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六、</a:t>
              </a:r>
              <a:r>
                <a:rPr lang="zh-CN" altLang="en-US" sz="2000" b="1" dirty="0">
                  <a:solidFill>
                    <a:schemeClr val="bg1"/>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2740311311"/>
      </p:ext>
    </p:extLst>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771800" y="205388"/>
            <a:ext cx="4852610"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ym typeface="+mn-ea"/>
              </a:rPr>
              <a:t/>
            </a:r>
            <a:r>
              <a:rPr sz="2800" b="1">
                <a:solidFill>
                  <a:srgbClr val="FFFFFF"/>
                </a:solidFill>
                <a:latin typeface="微软雅黑"/>
                <a:ea typeface="微软雅黑"/>
              </a:rPr>
              <a:t>五、预期达到的经济社会效益</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464185" y="1052830"/>
            <a:ext cx="1659543"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经济效益</a:t>
            </a:r>
          </a:p>
        </p:txBody>
      </p:sp>
      <p:sp>
        <p:nvSpPr>
          <p:cNvPr id="2" name="Rectangle 1">
            <a:extLst>
              <a:ext uri="{FF2B5EF4-FFF2-40B4-BE49-F238E27FC236}">
                <a16:creationId xmlns:a16="http://schemas.microsoft.com/office/drawing/2014/main" id="{3C60922C-1A17-EA43-3735-1C5CC6CBF756}"/>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本标准的实施将规范医用呼吸机压力传感器的生产与检验流程，降低行业产品质量不良率；同时通过统一技术指标和接口规范，降低国产传感器替代进口产品的技术门槛，有望</a:t>
            </a:r>
            <a:r>
              <a:rPr sz="2000" b="1">
                <a:solidFill>
                  <a:srgbClr val="FF0000"/>
                </a:solidFill>
                <a:latin typeface="微软雅黑"/>
                <a:ea typeface="微软雅黑"/>
              </a:rPr>
              <a:t>打破进口垄断</a:t>
            </a:r>
            <a:r>
              <a:rPr sz="2000" b="1">
                <a:solidFill>
                  <a:srgbClr val="0070C0"/>
                </a:solidFill>
                <a:latin typeface="微软雅黑"/>
                <a:ea typeface="微软雅黑"/>
              </a:rPr>
              <a:t>格局，</a:t>
            </a:r>
            <a:r>
              <a:rPr sz="2000" b="1">
                <a:solidFill>
                  <a:srgbClr val="FF0000"/>
                </a:solidFill>
                <a:latin typeface="微软雅黑"/>
                <a:ea typeface="微软雅黑"/>
              </a:rPr>
              <a:t>节省大量外汇</a:t>
            </a:r>
            <a:r>
              <a:rPr sz="2000" b="1">
                <a:solidFill>
                  <a:srgbClr val="0070C0"/>
                </a:solidFill>
                <a:latin typeface="微软雅黑"/>
                <a:ea typeface="微软雅黑"/>
              </a:rPr>
              <a:t>支出，促进国内压力传感器产业规模化发展。</a:t>
            </a:r>
          </a:p>
        </p:txBody>
      </p:sp>
      <p:graphicFrame>
        <p:nvGraphicFramePr>
          <p:cNvPr id="48" name="Table 47"/>
          <p:cNvGraphicFramePr>
            <a:graphicFrameLocks noGrp="1"/>
          </p:cNvGraphicFramePr>
          <p:nvPr/>
        </p:nvGraphicFramePr>
        <p:xfrm>
          <a:off x="422001" y="3429000"/>
          <a:ext cx="8299997" cy="2100000"/>
        </p:xfrm>
        <a:graphic>
          <a:graphicData uri="http://schemas.openxmlformats.org/drawingml/2006/table">
            <a:tbl>
              <a:tblPr firstRow="1" bandRow="0" lastRow="0" bandCol="0">
                <a:tableStyleId>{5C22544A-7EE6-4342-B048-85BDC9FD1C3A}</a:tableStyleId>
              </a:tblPr>
              <a:tblGrid>
                <a:gridCol w="2489999"/>
                <a:gridCol w="2904999"/>
                <a:gridCol w="2904999"/>
              </a:tblGrid>
              <a:tr h="420000">
                <a:tc>
                  <a:txBody>
                    <a:bodyPr/>
                    <a:lstStyle/>
                    <a:p>
                      <a:pPr algn="ctr"/>
                      <a:r>
                        <a:rPr sz="1400" b="1">
                          <a:solidFill>
                            <a:srgbClr val="FFFFFF"/>
                          </a:solidFill>
                          <a:latin typeface="微软雅黑"/>
                          <a:ea typeface="微软雅黑"/>
                        </a:rPr>
                        <a:t>效益维度</a:t>
                      </a:r>
                    </a:p>
                  </a:txBody>
                  <a:tcPr anchor="ctr">
                    <a:solidFill>
                      <a:srgbClr val="0070C0"/>
                    </a:solidFill>
                  </a:tcPr>
                </a:tc>
                <a:tc>
                  <a:txBody>
                    <a:bodyPr/>
                    <a:lstStyle/>
                    <a:p>
                      <a:pPr algn="ctr"/>
                      <a:r>
                        <a:rPr sz="1400" b="1">
                          <a:solidFill>
                            <a:srgbClr val="FFFFFF"/>
                          </a:solidFill>
                          <a:latin typeface="微软雅黑"/>
                          <a:ea typeface="微软雅黑"/>
                        </a:rPr>
                        <a:t>具体表现</a:t>
                      </a:r>
                    </a:p>
                  </a:txBody>
                  <a:tcPr anchor="ctr">
                    <a:solidFill>
                      <a:srgbClr val="0070C0"/>
                    </a:solidFill>
                  </a:tcPr>
                </a:tc>
                <a:tc>
                  <a:txBody>
                    <a:bodyPr/>
                    <a:lstStyle/>
                    <a:p>
                      <a:pPr algn="ctr"/>
                      <a:r>
                        <a:rPr sz="1400" b="1">
                          <a:solidFill>
                            <a:srgbClr val="FFFFFF"/>
                          </a:solidFill>
                          <a:latin typeface="微软雅黑"/>
                          <a:ea typeface="微软雅黑"/>
                        </a:rPr>
                        <a:t>预期影响</a:t>
                      </a:r>
                    </a:p>
                  </a:txBody>
                  <a:tcPr anchor="ctr">
                    <a:solidFill>
                      <a:srgbClr val="0070C0"/>
                    </a:solidFill>
                  </a:tcPr>
                </a:tc>
              </a:tr>
              <a:tr h="420000">
                <a:tc>
                  <a:txBody>
                    <a:bodyPr/>
                    <a:lstStyle/>
                    <a:p>
                      <a:pPr algn="l"/>
                      <a:r>
                        <a:rPr sz="1200" b="0">
                          <a:solidFill>
                            <a:srgbClr val="000000"/>
                          </a:solidFill>
                          <a:latin typeface="微软雅黑"/>
                          <a:ea typeface="微软雅黑"/>
                        </a:rPr>
                        <a:t>降低生产成本</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统一技术要求和检验方法</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降低企业研发和质检成本</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进口替代效益</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打破霍尼韦尔、TE等垄断</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节省外汇、缩短供应链</a:t>
                      </a:r>
                    </a:p>
                  </a:txBody>
                  <a:tcPr anchor="ctr" marL="91440" marR="91440" marT="45720" marB="45720">
                    <a:solidFill>
                      <a:srgbClr val="FFFFFF"/>
                    </a:solidFill>
                  </a:tcPr>
                </a:tc>
              </a:tr>
              <a:tr h="420000">
                <a:tc>
                  <a:txBody>
                    <a:bodyPr/>
                    <a:lstStyle/>
                    <a:p>
                      <a:pPr algn="l"/>
                      <a:r>
                        <a:rPr sz="1200" b="0">
                          <a:solidFill>
                            <a:srgbClr val="000000"/>
                          </a:solidFill>
                          <a:latin typeface="微软雅黑"/>
                          <a:ea typeface="微软雅黑"/>
                        </a:rPr>
                        <a:t>产品质量提升</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规范生产标准，降低不良率</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减少质量问题召回和赔偿</a:t>
                      </a:r>
                    </a:p>
                  </a:txBody>
                  <a:tcPr anchor="ctr" marL="91440" marR="91440" marT="45720" marB="45720">
                    <a:solidFill>
                      <a:srgbClr val="D9E2F3"/>
                    </a:solidFill>
                  </a:tcPr>
                </a:tc>
              </a:tr>
              <a:tr h="420000">
                <a:tc>
                  <a:txBody>
                    <a:bodyPr/>
                    <a:lstStyle/>
                    <a:p>
                      <a:pPr algn="l"/>
                      <a:r>
                        <a:rPr sz="1200" b="0">
                          <a:solidFill>
                            <a:srgbClr val="000000"/>
                          </a:solidFill>
                          <a:latin typeface="微软雅黑"/>
                          <a:ea typeface="微软雅黑"/>
                        </a:rPr>
                        <a:t>产业规模化</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统一接口剖面，促进协同</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提升国产呼吸机整体竞争力</a:t>
                      </a:r>
                    </a:p>
                  </a:txBody>
                  <a:tcPr anchor="ctr" marL="91440" marR="91440" marT="45720" marB="45720">
                    <a:solidFill>
                      <a:srgbClr val="FFFFFF"/>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771800" y="205388"/>
            <a:ext cx="4852610"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ym typeface="+mn-ea"/>
              </a:rPr>
              <a:t/>
            </a:r>
            <a:r>
              <a:rPr sz="2800" b="1">
                <a:solidFill>
                  <a:srgbClr val="FFFFFF"/>
                </a:solidFill>
                <a:latin typeface="微软雅黑"/>
                <a:ea typeface="微软雅黑"/>
              </a:rPr>
              <a:t>五、预期达到的经济社会效益</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464185" y="1052830"/>
            <a:ext cx="1659543"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社会效益</a:t>
            </a:r>
          </a:p>
        </p:txBody>
      </p:sp>
      <p:sp>
        <p:nvSpPr>
          <p:cNvPr id="2" name="Rectangle 1">
            <a:extLst>
              <a:ext uri="{FF2B5EF4-FFF2-40B4-BE49-F238E27FC236}">
                <a16:creationId xmlns:a16="http://schemas.microsoft.com/office/drawing/2014/main" id="{6F4A979D-6900-38DA-EF91-6A5E256275E0}"/>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本标准能填补国产医用呼吸机关键部件压力传感器的技术评价标准空白，建立呼吸机研制厂商和零部件供应商之间的桥梁，打通国产高端呼吸机核心传感器创新成果产业化推广的“</a:t>
            </a:r>
            <a:r>
              <a:rPr sz="2000" b="1">
                <a:solidFill>
                  <a:srgbClr val="FF0000"/>
                </a:solidFill>
                <a:latin typeface="微软雅黑"/>
                <a:ea typeface="微软雅黑"/>
              </a:rPr>
              <a:t>最后一公里</a:t>
            </a:r>
            <a:r>
              <a:rPr sz="2000" b="1">
                <a:solidFill>
                  <a:srgbClr val="0070C0"/>
                </a:solidFill>
                <a:latin typeface="微软雅黑"/>
                <a:ea typeface="微软雅黑"/>
              </a:rPr>
              <a:t>”；同时推动国产呼吸机核心部件</a:t>
            </a:r>
            <a:r>
              <a:rPr sz="2000" b="1">
                <a:solidFill>
                  <a:srgbClr val="FF0000"/>
                </a:solidFill>
                <a:latin typeface="微软雅黑"/>
                <a:ea typeface="微软雅黑"/>
              </a:rPr>
              <a:t>自主可控</a:t>
            </a:r>
            <a:r>
              <a:rPr sz="2000" b="1">
                <a:solidFill>
                  <a:srgbClr val="0070C0"/>
                </a:solidFill>
                <a:latin typeface="微软雅黑"/>
                <a:ea typeface="微软雅黑"/>
              </a:rPr>
              <a:t>，提升国家应急保障能力。</a:t>
            </a:r>
          </a:p>
        </p:txBody>
      </p:sp>
      <p:pic>
        <p:nvPicPr>
          <p:cNvPr id="48" name="Picture 47" descr="Slide17-社会效益辐射.jpg"/>
          <p:cNvPicPr>
            <a:picLocks noChangeAspect="1"/>
          </p:cNvPicPr>
          <p:nvPr/>
        </p:nvPicPr>
        <p:blipFill>
          <a:blip r:embed="rId3"/>
          <a:stretch>
            <a:fillRect/>
          </a:stretch>
        </p:blipFill>
        <p:spPr>
          <a:xfrm>
            <a:off x="469116" y="3085953"/>
            <a:ext cx="8093672" cy="3200000"/>
          </a:xfrm>
          <a:prstGeom prst="rect">
            <a:avLst/>
          </a:prstGeom>
        </p:spPr>
      </p:pic>
    </p:spTree>
    <p:extLst>
      <p:ext uri="{BB962C8B-B14F-4D97-AF65-F5344CB8AC3E}">
        <p14:creationId xmlns:p14="http://schemas.microsoft.com/office/powerpoint/2010/main" val="2652089541"/>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CC285-95D7-040B-B928-96FBE4895810}"/>
            </a:ext>
          </a:extLst>
        </p:cNvPr>
        <p:cNvGrpSpPr/>
        <p:nvPr/>
      </p:nvGrpSpPr>
      <p:grpSpPr>
        <a:xfrm>
          <a:off x="0" y="0"/>
          <a:ext cx="0" cy="0"/>
          <a:chOff x="0" y="0"/>
          <a:chExt cx="0" cy="0"/>
        </a:xfrm>
      </p:grpSpPr>
      <p:grpSp>
        <p:nvGrpSpPr>
          <p:cNvPr id="15" name="组合 14">
            <a:extLst>
              <a:ext uri="{FF2B5EF4-FFF2-40B4-BE49-F238E27FC236}">
                <a16:creationId xmlns:a16="http://schemas.microsoft.com/office/drawing/2014/main" id="{5C605CF5-6F96-D62E-F3A0-EF097FE5862A}"/>
              </a:ext>
            </a:extLst>
          </p:cNvPr>
          <p:cNvGrpSpPr/>
          <p:nvPr/>
        </p:nvGrpSpPr>
        <p:grpSpPr>
          <a:xfrm>
            <a:off x="994460" y="1584042"/>
            <a:ext cx="7113905" cy="471805"/>
            <a:chOff x="2323" y="3083"/>
            <a:chExt cx="10043" cy="725"/>
          </a:xfrm>
        </p:grpSpPr>
        <p:grpSp>
          <p:nvGrpSpPr>
            <p:cNvPr id="2" name="组合 35">
              <a:extLst>
                <a:ext uri="{FF2B5EF4-FFF2-40B4-BE49-F238E27FC236}">
                  <a16:creationId xmlns:a16="http://schemas.microsoft.com/office/drawing/2014/main" id="{1E92F98A-67E0-88FE-77D8-1070760B9C93}"/>
                </a:ext>
              </a:extLst>
            </p:cNvPr>
            <p:cNvGrpSpPr/>
            <p:nvPr/>
          </p:nvGrpSpPr>
          <p:grpSpPr>
            <a:xfrm>
              <a:off x="2353" y="3083"/>
              <a:ext cx="10013" cy="725"/>
              <a:chOff x="3324" y="4005"/>
              <a:chExt cx="9188" cy="733"/>
            </a:xfrm>
            <a:solidFill>
              <a:srgbClr val="0186D1"/>
            </a:solidFill>
          </p:grpSpPr>
          <p:sp>
            <p:nvSpPr>
              <p:cNvPr id="4" name="任意多边形 3">
                <a:extLst>
                  <a:ext uri="{FF2B5EF4-FFF2-40B4-BE49-F238E27FC236}">
                    <a16:creationId xmlns:a16="http://schemas.microsoft.com/office/drawing/2014/main" id="{4145C38E-5676-1ECE-FB10-578B33183573}"/>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 name="椭圆 4">
                <a:extLst>
                  <a:ext uri="{FF2B5EF4-FFF2-40B4-BE49-F238E27FC236}">
                    <a16:creationId xmlns:a16="http://schemas.microsoft.com/office/drawing/2014/main" id="{64B8EF5C-8DE1-FD41-5CAF-CB7CA2CE363C}"/>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2" name="矩形 21">
                <a:extLst>
                  <a:ext uri="{FF2B5EF4-FFF2-40B4-BE49-F238E27FC236}">
                    <a16:creationId xmlns:a16="http://schemas.microsoft.com/office/drawing/2014/main" id="{BDC5DFBA-6E01-03EE-B475-E888F66A1191}"/>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 name="直角三角形 5">
                <a:extLst>
                  <a:ext uri="{FF2B5EF4-FFF2-40B4-BE49-F238E27FC236}">
                    <a16:creationId xmlns:a16="http://schemas.microsoft.com/office/drawing/2014/main" id="{0C1A91BE-AF64-102A-AF90-A9845BB2A86D}"/>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2" name="文本框 11">
              <a:extLst>
                <a:ext uri="{FF2B5EF4-FFF2-40B4-BE49-F238E27FC236}">
                  <a16:creationId xmlns:a16="http://schemas.microsoft.com/office/drawing/2014/main" id="{3E74707F-8E78-1C78-7A7D-76AC125A0675}"/>
                </a:ext>
              </a:extLst>
            </p:cNvPr>
            <p:cNvSpPr txBox="1"/>
            <p:nvPr/>
          </p:nvSpPr>
          <p:spPr>
            <a:xfrm>
              <a:off x="3910" y="3083"/>
              <a:ext cx="8183" cy="613"/>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 一、项目背景及必要性</a:t>
              </a:r>
              <a:endParaRPr lang="zh-CN" altLang="en-US" sz="2000" b="1" dirty="0">
                <a:solidFill>
                  <a:srgbClr val="FF0000"/>
                </a:solidFill>
                <a:latin typeface="微软雅黑" panose="020B0503020204020204" charset="-122"/>
                <a:ea typeface="微软雅黑" panose="020B0503020204020204" charset="-122"/>
              </a:endParaRPr>
            </a:p>
          </p:txBody>
        </p:sp>
        <p:sp>
          <p:nvSpPr>
            <p:cNvPr id="51" name="文本框 50">
              <a:extLst>
                <a:ext uri="{FF2B5EF4-FFF2-40B4-BE49-F238E27FC236}">
                  <a16:creationId xmlns:a16="http://schemas.microsoft.com/office/drawing/2014/main" id="{A3B79951-2971-B461-076A-0253D7299BA3}"/>
                </a:ext>
              </a:extLst>
            </p:cNvPr>
            <p:cNvSpPr txBox="1"/>
            <p:nvPr/>
          </p:nvSpPr>
          <p:spPr>
            <a:xfrm rot="2460000">
              <a:off x="2323" y="3141"/>
              <a:ext cx="846" cy="566"/>
            </a:xfrm>
            <a:prstGeom prst="rect">
              <a:avLst/>
            </a:prstGeom>
            <a:noFill/>
          </p:spPr>
          <p:txBody>
            <a:bodyPr wrap="square" rtlCol="0">
              <a:spAutoFit/>
            </a:bodyPr>
            <a:lstStyle/>
            <a:p>
              <a:r>
                <a:rPr lang="en-US" altLang="zh-CN" sz="1800" b="1">
                  <a:solidFill>
                    <a:schemeClr val="bg1"/>
                  </a:solidFill>
                  <a:latin typeface="微软雅黑" panose="020B0503020204020204" charset="-122"/>
                  <a:ea typeface="微软雅黑" panose="020B0503020204020204" charset="-122"/>
                </a:rPr>
                <a:t>01</a:t>
              </a:r>
            </a:p>
          </p:txBody>
        </p:sp>
      </p:grpSp>
      <p:sp>
        <p:nvSpPr>
          <p:cNvPr id="8" name="标题 7">
            <a:extLst>
              <a:ext uri="{FF2B5EF4-FFF2-40B4-BE49-F238E27FC236}">
                <a16:creationId xmlns:a16="http://schemas.microsoft.com/office/drawing/2014/main" id="{4FC2E0C0-FADF-4916-B00C-E5B1016D87BF}"/>
              </a:ext>
            </a:extLst>
          </p:cNvPr>
          <p:cNvSpPr>
            <a:spLocks noGrp="1"/>
          </p:cNvSpPr>
          <p:nvPr>
            <p:ph type="title"/>
          </p:nvPr>
        </p:nvSpPr>
        <p:spPr>
          <a:xfrm>
            <a:off x="4139952" y="188640"/>
            <a:ext cx="1620957" cy="523220"/>
          </a:xfrm>
        </p:spPr>
        <p:txBody>
          <a:bodyPr/>
          <a:lstStyle/>
          <a:p>
            <a:pPr algn="l"/>
            <a:r>
              <a:rPr altLang="en-US" sz="2800" b="1" dirty="0"/>
              <a:t>汇报内容</a:t>
            </a:r>
            <a:endParaRPr lang="zh-CN" altLang="en-US" sz="2800" b="1" dirty="0"/>
          </a:p>
        </p:txBody>
      </p:sp>
      <p:grpSp>
        <p:nvGrpSpPr>
          <p:cNvPr id="18" name="组合 17">
            <a:extLst>
              <a:ext uri="{FF2B5EF4-FFF2-40B4-BE49-F238E27FC236}">
                <a16:creationId xmlns:a16="http://schemas.microsoft.com/office/drawing/2014/main" id="{8A4BBCD5-6DC7-5152-029E-B199E1565E4A}"/>
              </a:ext>
            </a:extLst>
          </p:cNvPr>
          <p:cNvGrpSpPr/>
          <p:nvPr/>
        </p:nvGrpSpPr>
        <p:grpSpPr>
          <a:xfrm>
            <a:off x="988110" y="3706847"/>
            <a:ext cx="7120890" cy="463550"/>
            <a:chOff x="2289" y="7221"/>
            <a:chExt cx="10062" cy="731"/>
          </a:xfrm>
        </p:grpSpPr>
        <p:grpSp>
          <p:nvGrpSpPr>
            <p:cNvPr id="41" name="组合 16">
              <a:extLst>
                <a:ext uri="{FF2B5EF4-FFF2-40B4-BE49-F238E27FC236}">
                  <a16:creationId xmlns:a16="http://schemas.microsoft.com/office/drawing/2014/main" id="{7F80E8A1-5042-69D4-39CF-358264E6711D}"/>
                </a:ext>
              </a:extLst>
            </p:cNvPr>
            <p:cNvGrpSpPr/>
            <p:nvPr/>
          </p:nvGrpSpPr>
          <p:grpSpPr>
            <a:xfrm>
              <a:off x="2334" y="7227"/>
              <a:ext cx="10017" cy="725"/>
              <a:chOff x="3324" y="4005"/>
              <a:chExt cx="9188" cy="733"/>
            </a:xfrm>
            <a:solidFill>
              <a:srgbClr val="0186D1"/>
            </a:solidFill>
          </p:grpSpPr>
          <p:sp>
            <p:nvSpPr>
              <p:cNvPr id="42" name="任意多边形 41">
                <a:extLst>
                  <a:ext uri="{FF2B5EF4-FFF2-40B4-BE49-F238E27FC236}">
                    <a16:creationId xmlns:a16="http://schemas.microsoft.com/office/drawing/2014/main" id="{6426BE3A-66AB-9EE7-EA0D-E9D988512813}"/>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3" name="椭圆 42">
                <a:extLst>
                  <a:ext uri="{FF2B5EF4-FFF2-40B4-BE49-F238E27FC236}">
                    <a16:creationId xmlns:a16="http://schemas.microsoft.com/office/drawing/2014/main" id="{3D44D65C-E6F1-360F-88C0-9D0AF52F8C19}"/>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44" name="矩形 43">
                <a:extLst>
                  <a:ext uri="{FF2B5EF4-FFF2-40B4-BE49-F238E27FC236}">
                    <a16:creationId xmlns:a16="http://schemas.microsoft.com/office/drawing/2014/main" id="{89DDAD53-A5D0-3B57-881C-6FFD797BD87E}"/>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5" name="直角三角形 44">
                <a:extLst>
                  <a:ext uri="{FF2B5EF4-FFF2-40B4-BE49-F238E27FC236}">
                    <a16:creationId xmlns:a16="http://schemas.microsoft.com/office/drawing/2014/main" id="{3BE8DAFC-895A-9D5E-F423-C5D11E4B7CE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46" name="文本框 49">
              <a:extLst>
                <a:ext uri="{FF2B5EF4-FFF2-40B4-BE49-F238E27FC236}">
                  <a16:creationId xmlns:a16="http://schemas.microsoft.com/office/drawing/2014/main" id="{96EFE900-220D-2D30-A32D-4301839997EE}"/>
                </a:ext>
              </a:extLst>
            </p:cNvPr>
            <p:cNvSpPr txBox="1"/>
            <p:nvPr/>
          </p:nvSpPr>
          <p:spPr>
            <a:xfrm rot="2460000">
              <a:off x="2289" y="7298"/>
              <a:ext cx="791" cy="581"/>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04</a:t>
              </a:r>
            </a:p>
          </p:txBody>
        </p:sp>
        <p:sp>
          <p:nvSpPr>
            <p:cNvPr id="47" name="文本框 11">
              <a:extLst>
                <a:ext uri="{FF2B5EF4-FFF2-40B4-BE49-F238E27FC236}">
                  <a16:creationId xmlns:a16="http://schemas.microsoft.com/office/drawing/2014/main" id="{8B660F3D-FAA9-9FEE-B1C2-6A47C74E109C}"/>
                </a:ext>
              </a:extLst>
            </p:cNvPr>
            <p:cNvSpPr txBox="1"/>
            <p:nvPr/>
          </p:nvSpPr>
          <p:spPr>
            <a:xfrm>
              <a:off x="3954" y="7221"/>
              <a:ext cx="8396" cy="629"/>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四、</a:t>
              </a:r>
              <a:r>
                <a:rPr lang="zh-CN" sz="2000" b="1" dirty="0">
                  <a:solidFill>
                    <a:schemeClr val="bg1"/>
                  </a:solidFill>
                  <a:latin typeface="微软雅黑" panose="020B0503020204020204" charset="-122"/>
                  <a:ea typeface="微软雅黑" panose="020B0503020204020204" charset="-122"/>
                  <a:sym typeface="+mn-ea"/>
                </a:rPr>
                <a:t>技术先进性、创新性、产业化分析</a:t>
              </a:r>
              <a:endParaRPr lang="zh-CN" altLang="en-US" sz="1400" b="1" dirty="0">
                <a:solidFill>
                  <a:srgbClr val="FF0000"/>
                </a:solidFill>
                <a:latin typeface="微软雅黑" panose="020B0503020204020204" charset="-122"/>
                <a:ea typeface="微软雅黑" panose="020B0503020204020204" charset="-122"/>
                <a:sym typeface="+mn-ea"/>
              </a:endParaRPr>
            </a:p>
          </p:txBody>
        </p:sp>
      </p:grpSp>
      <p:grpSp>
        <p:nvGrpSpPr>
          <p:cNvPr id="16" name="组合 15">
            <a:extLst>
              <a:ext uri="{FF2B5EF4-FFF2-40B4-BE49-F238E27FC236}">
                <a16:creationId xmlns:a16="http://schemas.microsoft.com/office/drawing/2014/main" id="{1C55C596-88B4-E7DC-C1C0-DF5EEF1D70FA}"/>
              </a:ext>
            </a:extLst>
          </p:cNvPr>
          <p:cNvGrpSpPr/>
          <p:nvPr/>
        </p:nvGrpSpPr>
        <p:grpSpPr>
          <a:xfrm>
            <a:off x="991920" y="2291432"/>
            <a:ext cx="7155815" cy="464185"/>
            <a:chOff x="2316" y="4509"/>
            <a:chExt cx="10104" cy="731"/>
          </a:xfrm>
        </p:grpSpPr>
        <p:grpSp>
          <p:nvGrpSpPr>
            <p:cNvPr id="34" name="组合 16">
              <a:extLst>
                <a:ext uri="{FF2B5EF4-FFF2-40B4-BE49-F238E27FC236}">
                  <a16:creationId xmlns:a16="http://schemas.microsoft.com/office/drawing/2014/main" id="{2F7F09D9-E1DD-05BC-C4ED-8CDAA831E1A5}"/>
                </a:ext>
              </a:extLst>
            </p:cNvPr>
            <p:cNvGrpSpPr/>
            <p:nvPr/>
          </p:nvGrpSpPr>
          <p:grpSpPr>
            <a:xfrm>
              <a:off x="2360" y="4515"/>
              <a:ext cx="10005" cy="725"/>
              <a:chOff x="3324" y="4005"/>
              <a:chExt cx="9188" cy="733"/>
            </a:xfrm>
            <a:solidFill>
              <a:srgbClr val="0186D1"/>
            </a:solidFill>
          </p:grpSpPr>
          <p:sp>
            <p:nvSpPr>
              <p:cNvPr id="37" name="任意多边形 36">
                <a:extLst>
                  <a:ext uri="{FF2B5EF4-FFF2-40B4-BE49-F238E27FC236}">
                    <a16:creationId xmlns:a16="http://schemas.microsoft.com/office/drawing/2014/main" id="{C3FADF92-71AA-8A56-B1E7-77C8987AD441}"/>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40" name="椭圆 39">
                <a:extLst>
                  <a:ext uri="{FF2B5EF4-FFF2-40B4-BE49-F238E27FC236}">
                    <a16:creationId xmlns:a16="http://schemas.microsoft.com/office/drawing/2014/main" id="{1D6A94B6-D9FE-D0DC-1CAE-80142D86C634}"/>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50" name="矩形 49">
                <a:extLst>
                  <a:ext uri="{FF2B5EF4-FFF2-40B4-BE49-F238E27FC236}">
                    <a16:creationId xmlns:a16="http://schemas.microsoft.com/office/drawing/2014/main" id="{FA4D339A-9EC1-A648-A87F-29A20F44E7BE}"/>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57" name="直角三角形 56">
                <a:extLst>
                  <a:ext uri="{FF2B5EF4-FFF2-40B4-BE49-F238E27FC236}">
                    <a16:creationId xmlns:a16="http://schemas.microsoft.com/office/drawing/2014/main" id="{754DE42C-825D-E8FE-F84A-400841FC0D66}"/>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58" name="文本框 49">
              <a:extLst>
                <a:ext uri="{FF2B5EF4-FFF2-40B4-BE49-F238E27FC236}">
                  <a16:creationId xmlns:a16="http://schemas.microsoft.com/office/drawing/2014/main" id="{863AAB17-4F8D-673E-93D2-BBF82879BE08}"/>
                </a:ext>
              </a:extLst>
            </p:cNvPr>
            <p:cNvSpPr txBox="1"/>
            <p:nvPr/>
          </p:nvSpPr>
          <p:spPr>
            <a:xfrm rot="2460000">
              <a:off x="2316" y="458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02</a:t>
              </a:r>
            </a:p>
          </p:txBody>
        </p:sp>
        <p:sp>
          <p:nvSpPr>
            <p:cNvPr id="59" name="文本框 11">
              <a:extLst>
                <a:ext uri="{FF2B5EF4-FFF2-40B4-BE49-F238E27FC236}">
                  <a16:creationId xmlns:a16="http://schemas.microsoft.com/office/drawing/2014/main" id="{5E646614-3544-3792-687F-70F62BCED4E8}"/>
                </a:ext>
              </a:extLst>
            </p:cNvPr>
            <p:cNvSpPr txBox="1"/>
            <p:nvPr/>
          </p:nvSpPr>
          <p:spPr>
            <a:xfrm>
              <a:off x="3972" y="4509"/>
              <a:ext cx="8448"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二、项目适用范围及主要内容</a:t>
              </a:r>
            </a:p>
          </p:txBody>
        </p:sp>
      </p:grpSp>
      <p:grpSp>
        <p:nvGrpSpPr>
          <p:cNvPr id="17" name="组合 16">
            <a:extLst>
              <a:ext uri="{FF2B5EF4-FFF2-40B4-BE49-F238E27FC236}">
                <a16:creationId xmlns:a16="http://schemas.microsoft.com/office/drawing/2014/main" id="{CF5C63E8-6347-7AF9-1F46-0DBC920363EF}"/>
              </a:ext>
            </a:extLst>
          </p:cNvPr>
          <p:cNvGrpSpPr/>
          <p:nvPr/>
        </p:nvGrpSpPr>
        <p:grpSpPr>
          <a:xfrm>
            <a:off x="991920" y="2998187"/>
            <a:ext cx="7117080" cy="464185"/>
            <a:chOff x="2316" y="5859"/>
            <a:chExt cx="10049" cy="731"/>
          </a:xfrm>
        </p:grpSpPr>
        <p:grpSp>
          <p:nvGrpSpPr>
            <p:cNvPr id="60" name="组合 16">
              <a:extLst>
                <a:ext uri="{FF2B5EF4-FFF2-40B4-BE49-F238E27FC236}">
                  <a16:creationId xmlns:a16="http://schemas.microsoft.com/office/drawing/2014/main" id="{0C7D7B8B-CFD9-7DA1-DE9E-90C14D5BD8FD}"/>
                </a:ext>
              </a:extLst>
            </p:cNvPr>
            <p:cNvGrpSpPr/>
            <p:nvPr/>
          </p:nvGrpSpPr>
          <p:grpSpPr>
            <a:xfrm>
              <a:off x="2360" y="5865"/>
              <a:ext cx="10005" cy="725"/>
              <a:chOff x="3324" y="4005"/>
              <a:chExt cx="9188" cy="733"/>
            </a:xfrm>
            <a:solidFill>
              <a:srgbClr val="0186D1"/>
            </a:solidFill>
          </p:grpSpPr>
          <p:sp>
            <p:nvSpPr>
              <p:cNvPr id="61" name="任意多边形 60">
                <a:extLst>
                  <a:ext uri="{FF2B5EF4-FFF2-40B4-BE49-F238E27FC236}">
                    <a16:creationId xmlns:a16="http://schemas.microsoft.com/office/drawing/2014/main" id="{A2EE43A8-B829-0A6A-6C01-2CD52DB448F9}"/>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2" name="椭圆 61">
                <a:extLst>
                  <a:ext uri="{FF2B5EF4-FFF2-40B4-BE49-F238E27FC236}">
                    <a16:creationId xmlns:a16="http://schemas.microsoft.com/office/drawing/2014/main" id="{DE780318-6EE2-6D1A-4E1A-ADC42E7C5430}"/>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63" name="矩形 62">
                <a:extLst>
                  <a:ext uri="{FF2B5EF4-FFF2-40B4-BE49-F238E27FC236}">
                    <a16:creationId xmlns:a16="http://schemas.microsoft.com/office/drawing/2014/main" id="{6FC610A7-3CC6-DDED-748D-B061172C044C}"/>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64" name="直角三角形 63">
                <a:extLst>
                  <a:ext uri="{FF2B5EF4-FFF2-40B4-BE49-F238E27FC236}">
                    <a16:creationId xmlns:a16="http://schemas.microsoft.com/office/drawing/2014/main" id="{496A6366-CE08-B76C-4B22-919C9D23A912}"/>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65" name="文本框 49">
              <a:extLst>
                <a:ext uri="{FF2B5EF4-FFF2-40B4-BE49-F238E27FC236}">
                  <a16:creationId xmlns:a16="http://schemas.microsoft.com/office/drawing/2014/main" id="{A22965F3-81CF-F688-08EA-CB239278D01C}"/>
                </a:ext>
              </a:extLst>
            </p:cNvPr>
            <p:cNvSpPr txBox="1"/>
            <p:nvPr/>
          </p:nvSpPr>
          <p:spPr>
            <a:xfrm rot="2460000">
              <a:off x="2316" y="5935"/>
              <a:ext cx="791"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03</a:t>
              </a:r>
            </a:p>
          </p:txBody>
        </p:sp>
        <p:sp>
          <p:nvSpPr>
            <p:cNvPr id="66" name="文本框 11">
              <a:extLst>
                <a:ext uri="{FF2B5EF4-FFF2-40B4-BE49-F238E27FC236}">
                  <a16:creationId xmlns:a16="http://schemas.microsoft.com/office/drawing/2014/main" id="{8F62C32D-448B-A864-2471-64BA8AABFC03}"/>
                </a:ext>
              </a:extLst>
            </p:cNvPr>
            <p:cNvSpPr txBox="1"/>
            <p:nvPr/>
          </p:nvSpPr>
          <p:spPr>
            <a:xfrm>
              <a:off x="3976" y="5859"/>
              <a:ext cx="7487" cy="628"/>
            </a:xfrm>
            <a:prstGeom prst="rect">
              <a:avLst/>
            </a:prstGeom>
            <a:noFill/>
          </p:spPr>
          <p:txBody>
            <a:bodyPr wrap="square" rtlCol="0">
              <a:spAutoFit/>
            </a:bodyPr>
            <a:lstStyle/>
            <a:p>
              <a:pPr algn="l"/>
              <a:r>
                <a:rPr lang="zh-CN" altLang="en-US" sz="2000" b="1" dirty="0">
                  <a:solidFill>
                    <a:schemeClr val="bg1"/>
                  </a:solidFill>
                  <a:latin typeface="微软雅黑" panose="020B0503020204020204" charset="-122"/>
                  <a:ea typeface="微软雅黑" panose="020B0503020204020204" charset="-122"/>
                </a:rPr>
                <a:t>三、项目制定过程</a:t>
              </a:r>
            </a:p>
          </p:txBody>
        </p:sp>
      </p:grpSp>
      <p:grpSp>
        <p:nvGrpSpPr>
          <p:cNvPr id="19" name="组合 18">
            <a:extLst>
              <a:ext uri="{FF2B5EF4-FFF2-40B4-BE49-F238E27FC236}">
                <a16:creationId xmlns:a16="http://schemas.microsoft.com/office/drawing/2014/main" id="{7D1FB48A-211C-283E-50DD-17168A55AB80}"/>
              </a:ext>
            </a:extLst>
          </p:cNvPr>
          <p:cNvGrpSpPr/>
          <p:nvPr/>
        </p:nvGrpSpPr>
        <p:grpSpPr>
          <a:xfrm>
            <a:off x="988110" y="4411697"/>
            <a:ext cx="7120255" cy="464185"/>
            <a:chOff x="2263" y="8438"/>
            <a:chExt cx="10062" cy="731"/>
          </a:xfrm>
        </p:grpSpPr>
        <p:grpSp>
          <p:nvGrpSpPr>
            <p:cNvPr id="3" name="组合 16">
              <a:extLst>
                <a:ext uri="{FF2B5EF4-FFF2-40B4-BE49-F238E27FC236}">
                  <a16:creationId xmlns:a16="http://schemas.microsoft.com/office/drawing/2014/main" id="{B2B1C714-B344-607F-CA41-01FD36F36C51}"/>
                </a:ext>
              </a:extLst>
            </p:cNvPr>
            <p:cNvGrpSpPr/>
            <p:nvPr/>
          </p:nvGrpSpPr>
          <p:grpSpPr>
            <a:xfrm>
              <a:off x="2308" y="8444"/>
              <a:ext cx="10017" cy="725"/>
              <a:chOff x="3324" y="4005"/>
              <a:chExt cx="9188" cy="733"/>
            </a:xfrm>
            <a:solidFill>
              <a:srgbClr val="0186D1"/>
            </a:solidFill>
          </p:grpSpPr>
          <p:sp>
            <p:nvSpPr>
              <p:cNvPr id="7" name="任意多边形 6">
                <a:extLst>
                  <a:ext uri="{FF2B5EF4-FFF2-40B4-BE49-F238E27FC236}">
                    <a16:creationId xmlns:a16="http://schemas.microsoft.com/office/drawing/2014/main" id="{1A1B67CA-7BFF-1568-D373-AF17711B8E9C}"/>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9" name="椭圆 8">
                <a:extLst>
                  <a:ext uri="{FF2B5EF4-FFF2-40B4-BE49-F238E27FC236}">
                    <a16:creationId xmlns:a16="http://schemas.microsoft.com/office/drawing/2014/main" id="{03C6F28A-CC2B-087F-BDA6-B7003E4DF003}"/>
                  </a:ext>
                </a:extLst>
              </p:cNvPr>
              <p:cNvSpPr/>
              <p:nvPr/>
            </p:nvSpPr>
            <p:spPr>
              <a:xfrm>
                <a:off x="3324" y="4008"/>
                <a:ext cx="563" cy="563"/>
              </a:xfrm>
              <a:prstGeom prst="ellipse">
                <a:avLst/>
              </a:prstGeom>
              <a:solidFill>
                <a:srgbClr val="044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10" name="矩形 9">
                <a:extLst>
                  <a:ext uri="{FF2B5EF4-FFF2-40B4-BE49-F238E27FC236}">
                    <a16:creationId xmlns:a16="http://schemas.microsoft.com/office/drawing/2014/main" id="{752CF07D-D0D3-ACF6-2B6F-772FAFCE8CA9}"/>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11" name="直角三角形 10">
                <a:extLst>
                  <a:ext uri="{FF2B5EF4-FFF2-40B4-BE49-F238E27FC236}">
                    <a16:creationId xmlns:a16="http://schemas.microsoft.com/office/drawing/2014/main" id="{E4BECEF9-3492-9EB3-1252-8E8E7CEFEAAA}"/>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13" name="文本框 49">
              <a:extLst>
                <a:ext uri="{FF2B5EF4-FFF2-40B4-BE49-F238E27FC236}">
                  <a16:creationId xmlns:a16="http://schemas.microsoft.com/office/drawing/2014/main" id="{9E0454BD-85D7-CF98-5C7F-47521978787F}"/>
                </a:ext>
              </a:extLst>
            </p:cNvPr>
            <p:cNvSpPr txBox="1"/>
            <p:nvPr/>
          </p:nvSpPr>
          <p:spPr>
            <a:xfrm rot="2460000">
              <a:off x="2263" y="8515"/>
              <a:ext cx="782" cy="580"/>
            </a:xfrm>
            <a:prstGeom prst="rect">
              <a:avLst/>
            </a:prstGeom>
            <a:noFill/>
          </p:spPr>
          <p:txBody>
            <a:bodyPr wrap="square" rtlCol="0">
              <a:spAutoFit/>
            </a:bodyPr>
            <a:lstStyle/>
            <a:p>
              <a:r>
                <a:rPr lang="en-US" altLang="zh-CN" sz="1800" b="1" dirty="0">
                  <a:solidFill>
                    <a:schemeClr val="bg1"/>
                  </a:solidFill>
                  <a:latin typeface="微软雅黑" panose="020B0503020204020204" charset="-122"/>
                  <a:ea typeface="微软雅黑" panose="020B0503020204020204" charset="-122"/>
                </a:rPr>
                <a:t>05</a:t>
              </a:r>
            </a:p>
          </p:txBody>
        </p:sp>
        <p:sp>
          <p:nvSpPr>
            <p:cNvPr id="14" name="文本框 11">
              <a:extLst>
                <a:ext uri="{FF2B5EF4-FFF2-40B4-BE49-F238E27FC236}">
                  <a16:creationId xmlns:a16="http://schemas.microsoft.com/office/drawing/2014/main" id="{218BD52A-12D6-0B34-2EEC-BDA10647B332}"/>
                </a:ext>
              </a:extLst>
            </p:cNvPr>
            <p:cNvSpPr txBox="1"/>
            <p:nvPr/>
          </p:nvSpPr>
          <p:spPr>
            <a:xfrm>
              <a:off x="3928" y="8438"/>
              <a:ext cx="7637" cy="628"/>
            </a:xfrm>
            <a:prstGeom prst="rect">
              <a:avLst/>
            </a:prstGeom>
            <a:noFill/>
          </p:spPr>
          <p:txBody>
            <a:bodyPr wrap="square" rtlCol="0">
              <a:spAutoFit/>
            </a:bodyPr>
            <a:lstStyle/>
            <a:p>
              <a:r>
                <a:rPr lang="zh-CN" altLang="en-US" sz="2000" b="1" dirty="0">
                  <a:solidFill>
                    <a:schemeClr val="bg1"/>
                  </a:solidFill>
                  <a:latin typeface="微软雅黑" panose="020B0503020204020204" charset="-122"/>
                  <a:ea typeface="微软雅黑" panose="020B0503020204020204" charset="-122"/>
                </a:rPr>
                <a:t>五、预期达到的经济社会效益</a:t>
              </a:r>
              <a:endParaRPr lang="zh-CN" altLang="en-US" sz="2000" b="1" dirty="0">
                <a:solidFill>
                  <a:srgbClr val="FF0000"/>
                </a:solidFill>
                <a:latin typeface="微软雅黑" panose="020B0503020204020204" charset="-122"/>
                <a:ea typeface="微软雅黑" panose="020B0503020204020204" charset="-122"/>
              </a:endParaRPr>
            </a:p>
          </p:txBody>
        </p:sp>
      </p:grpSp>
      <p:grpSp>
        <p:nvGrpSpPr>
          <p:cNvPr id="20" name="组合 19">
            <a:extLst>
              <a:ext uri="{FF2B5EF4-FFF2-40B4-BE49-F238E27FC236}">
                <a16:creationId xmlns:a16="http://schemas.microsoft.com/office/drawing/2014/main" id="{5C2E58AE-37E4-8BB4-CFC0-03D7750B0046}"/>
              </a:ext>
            </a:extLst>
          </p:cNvPr>
          <p:cNvGrpSpPr/>
          <p:nvPr/>
        </p:nvGrpSpPr>
        <p:grpSpPr>
          <a:xfrm>
            <a:off x="971600" y="5053682"/>
            <a:ext cx="7120890" cy="463550"/>
            <a:chOff x="2289" y="7221"/>
            <a:chExt cx="10062" cy="731"/>
          </a:xfrm>
          <a:solidFill>
            <a:srgbClr val="FF0000"/>
          </a:solidFill>
        </p:grpSpPr>
        <p:grpSp>
          <p:nvGrpSpPr>
            <p:cNvPr id="21" name="组合 16">
              <a:extLst>
                <a:ext uri="{FF2B5EF4-FFF2-40B4-BE49-F238E27FC236}">
                  <a16:creationId xmlns:a16="http://schemas.microsoft.com/office/drawing/2014/main" id="{966DF07D-DD16-9257-FAD1-98838BD03122}"/>
                </a:ext>
              </a:extLst>
            </p:cNvPr>
            <p:cNvGrpSpPr/>
            <p:nvPr/>
          </p:nvGrpSpPr>
          <p:grpSpPr>
            <a:xfrm>
              <a:off x="2334" y="7227"/>
              <a:ext cx="10017" cy="725"/>
              <a:chOff x="3324" y="4005"/>
              <a:chExt cx="9188" cy="733"/>
            </a:xfrm>
            <a:grpFill/>
          </p:grpSpPr>
          <p:sp>
            <p:nvSpPr>
              <p:cNvPr id="23" name="任意多边形 22">
                <a:extLst>
                  <a:ext uri="{FF2B5EF4-FFF2-40B4-BE49-F238E27FC236}">
                    <a16:creationId xmlns:a16="http://schemas.microsoft.com/office/drawing/2014/main" id="{5F734DEC-BAA7-BAE1-818C-F2E1C3028DA6}"/>
                  </a:ext>
                </a:extLst>
              </p:cNvPr>
              <p:cNvSpPr/>
              <p:nvPr/>
            </p:nvSpPr>
            <p:spPr>
              <a:xfrm>
                <a:off x="3384" y="4078"/>
                <a:ext cx="1205" cy="660"/>
              </a:xfrm>
              <a:custGeom>
                <a:avLst/>
                <a:gdLst>
                  <a:gd name="connisteX0" fmla="*/ 0 w 765175"/>
                  <a:gd name="connsiteY0" fmla="*/ 250825 h 419100"/>
                  <a:gd name="connisteX1" fmla="*/ 193675 w 765175"/>
                  <a:gd name="connsiteY1" fmla="*/ 419100 h 419100"/>
                  <a:gd name="connisteX2" fmla="*/ 765175 w 765175"/>
                  <a:gd name="connsiteY2" fmla="*/ 419100 h 419100"/>
                  <a:gd name="connisteX3" fmla="*/ 260350 w 765175"/>
                  <a:gd name="connsiteY3" fmla="*/ 0 h 419100"/>
                  <a:gd name="connisteX4" fmla="*/ 0 w 765175"/>
                  <a:gd name="connsiteY4" fmla="*/ 250825 h 4191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765175" h="419100">
                    <a:moveTo>
                      <a:pt x="0" y="250825"/>
                    </a:moveTo>
                    <a:lnTo>
                      <a:pt x="193675" y="419100"/>
                    </a:lnTo>
                    <a:lnTo>
                      <a:pt x="765175" y="419100"/>
                    </a:lnTo>
                    <a:lnTo>
                      <a:pt x="260350" y="0"/>
                    </a:lnTo>
                    <a:lnTo>
                      <a:pt x="0" y="25082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4" name="椭圆 23">
                <a:extLst>
                  <a:ext uri="{FF2B5EF4-FFF2-40B4-BE49-F238E27FC236}">
                    <a16:creationId xmlns:a16="http://schemas.microsoft.com/office/drawing/2014/main" id="{EE8CDEBB-0E05-1D9F-0D8C-0B9090B52DF0}"/>
                  </a:ext>
                </a:extLst>
              </p:cNvPr>
              <p:cNvSpPr/>
              <p:nvPr/>
            </p:nvSpPr>
            <p:spPr>
              <a:xfrm>
                <a:off x="3324" y="4008"/>
                <a:ext cx="563" cy="56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b="1"/>
              </a:p>
            </p:txBody>
          </p:sp>
          <p:sp>
            <p:nvSpPr>
              <p:cNvPr id="25" name="矩形 24">
                <a:extLst>
                  <a:ext uri="{FF2B5EF4-FFF2-40B4-BE49-F238E27FC236}">
                    <a16:creationId xmlns:a16="http://schemas.microsoft.com/office/drawing/2014/main" id="{9564A5D7-5EA5-0FD2-B765-61E19259C750}"/>
                  </a:ext>
                </a:extLst>
              </p:cNvPr>
              <p:cNvSpPr/>
              <p:nvPr/>
            </p:nvSpPr>
            <p:spPr>
              <a:xfrm>
                <a:off x="4852" y="4008"/>
                <a:ext cx="7660" cy="73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sp>
            <p:nvSpPr>
              <p:cNvPr id="26" name="直角三角形 25">
                <a:extLst>
                  <a:ext uri="{FF2B5EF4-FFF2-40B4-BE49-F238E27FC236}">
                    <a16:creationId xmlns:a16="http://schemas.microsoft.com/office/drawing/2014/main" id="{48C6B7C9-937D-980B-CAEC-1EF578BB8320}"/>
                  </a:ext>
                </a:extLst>
              </p:cNvPr>
              <p:cNvSpPr/>
              <p:nvPr/>
            </p:nvSpPr>
            <p:spPr>
              <a:xfrm rot="10800000">
                <a:off x="3938" y="4005"/>
                <a:ext cx="914" cy="73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p>
            </p:txBody>
          </p:sp>
        </p:grpSp>
        <p:sp>
          <p:nvSpPr>
            <p:cNvPr id="27" name="文本框 49">
              <a:extLst>
                <a:ext uri="{FF2B5EF4-FFF2-40B4-BE49-F238E27FC236}">
                  <a16:creationId xmlns:a16="http://schemas.microsoft.com/office/drawing/2014/main" id="{44657B09-8A43-0B34-FCDA-CA77BD5FB5B9}"/>
                </a:ext>
              </a:extLst>
            </p:cNvPr>
            <p:cNvSpPr txBox="1"/>
            <p:nvPr/>
          </p:nvSpPr>
          <p:spPr>
            <a:xfrm rot="2460000">
              <a:off x="2289" y="7298"/>
              <a:ext cx="791" cy="581"/>
            </a:xfrm>
            <a:prstGeom prst="rect">
              <a:avLst/>
            </a:prstGeom>
            <a:grpFill/>
          </p:spPr>
          <p:txBody>
            <a:bodyPr wrap="square" rtlCol="0">
              <a:spAutoFit/>
            </a:bodyPr>
            <a:lstStyle/>
            <a:p>
              <a:r>
                <a:rPr lang="en-US" altLang="zh-CN" sz="1800" b="1" dirty="0">
                  <a:solidFill>
                    <a:srgbClr val="FF0000"/>
                  </a:solidFill>
                  <a:latin typeface="微软雅黑" panose="020B0503020204020204" charset="-122"/>
                  <a:ea typeface="微软雅黑" panose="020B0503020204020204" charset="-122"/>
                </a:rPr>
                <a:t>06</a:t>
              </a:r>
            </a:p>
          </p:txBody>
        </p:sp>
        <p:sp>
          <p:nvSpPr>
            <p:cNvPr id="28" name="文本框 11">
              <a:extLst>
                <a:ext uri="{FF2B5EF4-FFF2-40B4-BE49-F238E27FC236}">
                  <a16:creationId xmlns:a16="http://schemas.microsoft.com/office/drawing/2014/main" id="{3681F138-65F3-5E71-C2C8-1D62C53904B2}"/>
                </a:ext>
              </a:extLst>
            </p:cNvPr>
            <p:cNvSpPr txBox="1"/>
            <p:nvPr/>
          </p:nvSpPr>
          <p:spPr>
            <a:xfrm>
              <a:off x="3954" y="7221"/>
              <a:ext cx="8396" cy="629"/>
            </a:xfrm>
            <a:prstGeom prst="rect">
              <a:avLst/>
            </a:prstGeom>
            <a:grpFill/>
          </p:spPr>
          <p:txBody>
            <a:bodyPr wrap="square" rtlCol="0">
              <a:spAutoFit/>
            </a:bodyPr>
            <a:lstStyle/>
            <a:p>
              <a:pPr algn="l"/>
              <a:r>
                <a:rPr lang="zh-CN" altLang="en-US" sz="2000" b="1" dirty="0">
                  <a:solidFill>
                    <a:srgbClr val="FF0000"/>
                  </a:solidFill>
                  <a:latin typeface="微软雅黑" panose="020B0503020204020204" charset="-122"/>
                  <a:ea typeface="微软雅黑" panose="020B0503020204020204" charset="-122"/>
                </a:rPr>
                <a:t>六、</a:t>
              </a:r>
              <a:r>
                <a:rPr lang="zh-CN" altLang="en-US" sz="2000" b="1" dirty="0">
                  <a:solidFill>
                    <a:srgbClr val="FF0000"/>
                  </a:solidFill>
                  <a:latin typeface="微软雅黑" panose="020B0503020204020204" charset="-122"/>
                  <a:ea typeface="微软雅黑" panose="020B0503020204020204" charset="-122"/>
                  <a:sym typeface="+mn-ea"/>
                </a:rPr>
                <a:t>其他应予说明的事项</a:t>
              </a:r>
              <a:endParaRPr lang="zh-CN" altLang="en-US" sz="2000" b="1" dirty="0">
                <a:solidFill>
                  <a:srgbClr val="FF0000"/>
                </a:solidFill>
                <a:latin typeface="微软雅黑" panose="020B0503020204020204" charset="-122"/>
                <a:ea typeface="微软雅黑" panose="020B0503020204020204" charset="-122"/>
                <a:sym typeface="+mn-ea"/>
              </a:endParaRPr>
            </a:p>
          </p:txBody>
        </p:sp>
      </p:grpSp>
    </p:spTree>
    <p:extLst>
      <p:ext uri="{BB962C8B-B14F-4D97-AF65-F5344CB8AC3E}">
        <p14:creationId xmlns:p14="http://schemas.microsoft.com/office/powerpoint/2010/main" val="3942295240"/>
      </p:ext>
    </p:extLst>
  </p:cSld>
  <p:clrMapOvr>
    <a:masterClrMapping/>
  </p:clrMapOvr>
  <mc:AlternateContent xmlns:mc="http://schemas.openxmlformats.org/markup-compatibility/2006" xmlns:p14="http://schemas.microsoft.com/office/powerpoint/2010/main">
    <mc:Choice Requires="p14">
      <p:transition spd="slow" p14:dur="2000" advTm="5270"/>
    </mc:Choice>
    <mc:Fallback xmlns="">
      <p:transition spd="slow" advTm="527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828929" y="202610"/>
            <a:ext cx="4134465"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olidFill>
                  <a:schemeClr val="bg1"/>
                </a:solidFill>
                <a:latin typeface="微软雅黑" panose="020B0503020204020204" charset="-122"/>
                <a:ea typeface="微软雅黑" panose="020B0503020204020204" charset="-122"/>
                <a:sym typeface="+mn-ea"/>
              </a:rPr>
              <a:t/>
            </a:r>
            <a:r>
              <a:rPr sz="2800" b="1">
                <a:solidFill>
                  <a:srgbClr val="FFFFFF"/>
                </a:solidFill>
                <a:latin typeface="微软雅黑"/>
                <a:ea typeface="微软雅黑"/>
              </a:rPr>
              <a:t>六、其他需要说明的问题</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641985" y="994650"/>
            <a:ext cx="1697767"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实施建议</a:t>
            </a:r>
          </a:p>
        </p:txBody>
      </p:sp>
      <p:sp>
        <p:nvSpPr>
          <p:cNvPr id="2" name="Rectangle 1">
            <a:extLst>
              <a:ext uri="{FF2B5EF4-FFF2-40B4-BE49-F238E27FC236}">
                <a16:creationId xmlns:a16="http://schemas.microsoft.com/office/drawing/2014/main" id="{DD01471E-2CA2-3EB4-D2B8-0756E2736D1C}"/>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建议本标准作为</a:t>
            </a:r>
            <a:r>
              <a:rPr sz="2000" b="1">
                <a:solidFill>
                  <a:srgbClr val="FF0000"/>
                </a:solidFill>
                <a:latin typeface="微软雅黑"/>
                <a:ea typeface="微软雅黑"/>
              </a:rPr>
              <a:t>推荐性团体标准</a:t>
            </a:r>
            <a:r>
              <a:rPr sz="2000" b="1">
                <a:solidFill>
                  <a:srgbClr val="0070C0"/>
                </a:solidFill>
                <a:latin typeface="微软雅黑"/>
                <a:ea typeface="微软雅黑"/>
              </a:rPr>
              <a:t>发布，发布1个月后实施。实施主体主要为医用呼吸机压力传感器制造商及呼吸机整机企业，建议行业主管部门加大标准宣贯力度，逐步推动与国家标准体系衔接。</a:t>
            </a:r>
          </a:p>
        </p:txBody>
      </p:sp>
      <p:graphicFrame>
        <p:nvGraphicFramePr>
          <p:cNvPr id="48" name="Table 47"/>
          <p:cNvGraphicFramePr>
            <a:graphicFrameLocks noGrp="1"/>
          </p:cNvGraphicFramePr>
          <p:nvPr/>
        </p:nvGraphicFramePr>
        <p:xfrm>
          <a:off x="422001" y="3200000"/>
          <a:ext cx="8299997" cy="2220000"/>
        </p:xfrm>
        <a:graphic>
          <a:graphicData uri="http://schemas.openxmlformats.org/drawingml/2006/table">
            <a:tbl>
              <a:tblPr firstRow="1" bandRow="0" lastRow="0" bandCol="0">
                <a:tableStyleId>{5C22544A-7EE6-4342-B048-85BDC9FD1C3A}</a:tableStyleId>
              </a:tblPr>
              <a:tblGrid>
                <a:gridCol w="2489999"/>
                <a:gridCol w="2904999"/>
                <a:gridCol w="2904999"/>
              </a:tblGrid>
              <a:tr h="370000">
                <a:tc>
                  <a:txBody>
                    <a:bodyPr/>
                    <a:lstStyle/>
                    <a:p>
                      <a:pPr algn="ctr"/>
                      <a:r>
                        <a:rPr sz="1400" b="1">
                          <a:solidFill>
                            <a:srgbClr val="FFFFFF"/>
                          </a:solidFill>
                          <a:latin typeface="微软雅黑"/>
                          <a:ea typeface="微软雅黑"/>
                        </a:rPr>
                        <a:t>实施主体</a:t>
                      </a:r>
                    </a:p>
                  </a:txBody>
                  <a:tcPr anchor="ctr">
                    <a:solidFill>
                      <a:srgbClr val="0070C0"/>
                    </a:solidFill>
                  </a:tcPr>
                </a:tc>
                <a:tc>
                  <a:txBody>
                    <a:bodyPr/>
                    <a:lstStyle/>
                    <a:p>
                      <a:pPr algn="ctr"/>
                      <a:r>
                        <a:rPr sz="1400" b="1">
                          <a:solidFill>
                            <a:srgbClr val="FFFFFF"/>
                          </a:solidFill>
                          <a:latin typeface="微软雅黑"/>
                          <a:ea typeface="微软雅黑"/>
                        </a:rPr>
                        <a:t>实施内容</a:t>
                      </a:r>
                    </a:p>
                  </a:txBody>
                  <a:tcPr anchor="ctr">
                    <a:solidFill>
                      <a:srgbClr val="0070C0"/>
                    </a:solidFill>
                  </a:tcPr>
                </a:tc>
                <a:tc>
                  <a:txBody>
                    <a:bodyPr/>
                    <a:lstStyle/>
                    <a:p>
                      <a:pPr algn="ctr"/>
                      <a:r>
                        <a:rPr sz="1400" b="1">
                          <a:solidFill>
                            <a:srgbClr val="FFFFFF"/>
                          </a:solidFill>
                          <a:latin typeface="微软雅黑"/>
                          <a:ea typeface="微软雅黑"/>
                        </a:rPr>
                        <a:t>预期目标</a:t>
                      </a:r>
                    </a:p>
                  </a:txBody>
                  <a:tcPr anchor="ctr">
                    <a:solidFill>
                      <a:srgbClr val="0070C0"/>
                    </a:solidFill>
                  </a:tcPr>
                </a:tc>
              </a:tr>
              <a:tr h="370000">
                <a:tc>
                  <a:txBody>
                    <a:bodyPr/>
                    <a:lstStyle/>
                    <a:p>
                      <a:pPr algn="l"/>
                      <a:r>
                        <a:rPr sz="1200" b="0">
                          <a:solidFill>
                            <a:srgbClr val="000000"/>
                          </a:solidFill>
                          <a:latin typeface="微软雅黑"/>
                          <a:ea typeface="微软雅黑"/>
                        </a:rPr>
                        <a:t>传感器制造商
（汉威、炜盛、中电科等）</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按标准开展产品设计、
生产和出厂检验</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产品质量统一规范</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呼吸机整机企业
（迈瑞、谊安、鱼跃等）</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按标准选型和
验收压力传感器</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供应链质量保障</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检测机构</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按标准方法开展型式检验</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检验方法统一</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行业主管部门</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加大标准宣贯，
推动与国标衔接</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行业规范化管理</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医疗机构</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参照标准进行
设备选型和验收</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临床使用安全保障</a:t>
                      </a:r>
                    </a:p>
                  </a:txBody>
                  <a:tcPr anchor="ctr" marL="91440" marR="91440" marT="45720" marB="45720">
                    <a:solidFill>
                      <a:srgbClr val="D9E2F3"/>
                    </a:solid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标题 7"/>
          <p:cNvSpPr txBox="1"/>
          <p:nvPr/>
        </p:nvSpPr>
        <p:spPr>
          <a:xfrm>
            <a:off x="2828929" y="202610"/>
            <a:ext cx="4134465" cy="523220"/>
          </a:xfrm>
          <a:prstGeom prst="rect">
            <a:avLst/>
          </a:prstGeom>
          <a:noFill/>
        </p:spPr>
        <p:txBody>
          <a:bodyPr wrap="none" rtlCol="0">
            <a:spAutoFit/>
          </a:bodyPr>
          <a:lstStyle>
            <a:lvl1pPr algn="ctr" rtl="0" eaLnBrk="0" fontAlgn="base" hangingPunct="0">
              <a:spcBef>
                <a:spcPct val="0"/>
              </a:spcBef>
              <a:spcAft>
                <a:spcPct val="0"/>
              </a:spcAft>
              <a:defRPr kumimoji="1" lang="zh-CN" altLang="en-US" sz="2000" kern="1200" dirty="0">
                <a:solidFill>
                  <a:schemeClr val="bg1"/>
                </a:solidFill>
                <a:latin typeface="微软雅黑" panose="020B0503020204020204" charset="-122"/>
                <a:ea typeface="微软雅黑" panose="020B0503020204020204" charset="-122"/>
                <a:cs typeface="+mn-cs"/>
              </a:defRPr>
            </a:lvl1pPr>
            <a:lvl2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lgn="l"/>
            <a:r>
              <a:rPr sz="2800" b="1" dirty="0">
                <a:sym typeface="+mn-ea"/>
              </a:rPr>
              <a:t/>
            </a:r>
            <a:r>
              <a:rPr lang="zh-CN" altLang="en-US" sz="2800" b="1" dirty="0">
                <a:solidFill>
                  <a:schemeClr val="bg1"/>
                </a:solidFill>
                <a:latin typeface="微软雅黑" panose="020B0503020204020204" charset="-122"/>
                <a:ea typeface="微软雅黑" panose="020B0503020204020204" charset="-122"/>
                <a:sym typeface="+mn-ea"/>
              </a:rPr>
              <a:t/>
            </a:r>
            <a:r>
              <a:rPr sz="2800" b="1">
                <a:solidFill>
                  <a:srgbClr val="FFFFFF"/>
                </a:solidFill>
                <a:latin typeface="微软雅黑"/>
                <a:ea typeface="微软雅黑"/>
              </a:rPr>
              <a:t>六、其他需要说明的问题</a:t>
            </a:r>
            <a:endParaRPr sz="2800" b="1" dirty="0"/>
          </a:p>
        </p:txBody>
      </p:sp>
      <p:sp>
        <p:nvSpPr>
          <p:cNvPr id="8" name="页脚占位符 3"/>
          <p:cNvSpPr txBox="1">
            <a:spLocks noGrp="1"/>
          </p:cNvSpPr>
          <p:nvPr/>
        </p:nvSpPr>
        <p:spPr bwMode="auto">
          <a:xfrm>
            <a:off x="7046913" y="638175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   </a:t>
            </a:r>
          </a:p>
          <a:p>
            <a:pPr eaLnBrk="1" hangingPunct="1"/>
            <a:r>
              <a:rPr lang="en-US" altLang="zh-CN"/>
              <a:t>   </a:t>
            </a:r>
          </a:p>
        </p:txBody>
      </p:sp>
      <p:sp>
        <p:nvSpPr>
          <p:cNvPr id="3" name="文本框 2"/>
          <p:cNvSpPr txBox="1"/>
          <p:nvPr/>
        </p:nvSpPr>
        <p:spPr>
          <a:xfrm>
            <a:off x="641985" y="994650"/>
            <a:ext cx="1697767" cy="460375"/>
          </a:xfrm>
          <a:prstGeom prst="rect">
            <a:avLst/>
          </a:prstGeom>
          <a:solidFill>
            <a:srgbClr val="0000FF"/>
          </a:solidFill>
        </p:spPr>
        <p:txBody>
          <a:bodyPr wrap="square" rtlCol="0">
            <a:spAutoFit/>
          </a:bodyPr>
          <a:lstStyle/>
          <a:p>
            <a:pPr algn="dist"/>
            <a:r>
              <a:rPr lang="zh-CN" altLang="en-US" sz="2400" b="1" dirty="0">
                <a:solidFill>
                  <a:schemeClr val="bg1"/>
                </a:solidFill>
                <a:latin typeface="微软雅黑" panose="020B0503020204020204" charset="-122"/>
                <a:ea typeface="微软雅黑" panose="020B0503020204020204" charset="-122"/>
                <a:sym typeface="+mn-ea"/>
              </a:rPr>
              <a:t/>
            </a:r>
            <a:r>
              <a:rPr sz="2400" b="1">
                <a:solidFill>
                  <a:srgbClr val="FFFFFF"/>
                </a:solidFill>
                <a:latin typeface="微软雅黑"/>
                <a:ea typeface="微软雅黑"/>
              </a:rPr>
              <a:t>其他问题</a:t>
            </a:r>
          </a:p>
        </p:txBody>
      </p:sp>
      <p:sp>
        <p:nvSpPr>
          <p:cNvPr id="2" name="Rectangle 1">
            <a:extLst>
              <a:ext uri="{FF2B5EF4-FFF2-40B4-BE49-F238E27FC236}">
                <a16:creationId xmlns:a16="http://schemas.microsoft.com/office/drawing/2014/main" id="{9BE38500-1DE0-7A40-6650-0C06A1B2ACC0}"/>
              </a:ext>
            </a:extLst>
          </p:cNvPr>
          <p:cNvSpPr>
            <a:spLocks noChangeArrowheads="1"/>
          </p:cNvSpPr>
          <p:nvPr/>
        </p:nvSpPr>
        <p:spPr bwMode="auto">
          <a:xfrm>
            <a:off x="445134" y="1556792"/>
            <a:ext cx="8480377" cy="1569660"/>
          </a:xfrm>
          <a:prstGeom prst="rect">
            <a:avLst/>
          </a:prstGeom>
        </p:spPr>
        <p:txBody>
          <a:bodyPr wrap="square">
            <a:spAutoFit/>
          </a:bodyPr>
          <a:lstStyle/>
          <a:p>
            <a:pPr algn="just" defTabSz="266700">
              <a:spcBef>
                <a:spcPct val="0"/>
              </a:spcBef>
              <a:spcAft>
                <a:spcPct val="0"/>
              </a:spcAft>
              <a:lnSpc>
                <a:spcPct val="130000"/>
              </a:lnSpc>
            </a:pP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lang="zh-CN" altLang="en-US" sz="2400" b="1" dirty="0">
                <a:solidFill>
                  <a:srgbClr val="FF0000"/>
                </a:solidFill>
                <a:latin typeface="微软雅黑" panose="020B0503020204020204" pitchFamily="34" charset="-122"/>
                <a:ea typeface="微软雅黑" panose="020B0503020204020204" pitchFamily="34" charset="-122"/>
              </a:rPr>
              <a:t/>
            </a:r>
            <a:r>
              <a:rPr lang="zh-CN" altLang="en-US" sz="2400" b="1" dirty="0">
                <a:solidFill>
                  <a:srgbClr val="0070C0"/>
                </a:solidFill>
                <a:latin typeface="微软雅黑" panose="020B0503020204020204" pitchFamily="34" charset="-122"/>
                <a:ea typeface="微软雅黑" panose="020B0503020204020204" pitchFamily="34" charset="-122"/>
              </a:rPr>
              <a:t/>
            </a:r>
            <a:r>
              <a:rPr sz="2000" b="1">
                <a:solidFill>
                  <a:srgbClr val="0070C0"/>
                </a:solidFill>
                <a:latin typeface="微软雅黑"/>
                <a:ea typeface="微软雅黑"/>
              </a:rPr>
              <a:t>本标准为</a:t>
            </a:r>
            <a:r>
              <a:rPr sz="2000" b="1">
                <a:solidFill>
                  <a:srgbClr val="FF0000"/>
                </a:solidFill>
                <a:latin typeface="微软雅黑"/>
                <a:ea typeface="微软雅黑"/>
              </a:rPr>
              <a:t>自主制定</a:t>
            </a:r>
            <a:r>
              <a:rPr sz="2000" b="1">
                <a:solidFill>
                  <a:srgbClr val="0070C0"/>
                </a:solidFill>
                <a:latin typeface="微软雅黑"/>
                <a:ea typeface="微软雅黑"/>
              </a:rPr>
              <a:t>，未采用国际标准，与现行法规和强制性标准协调一致，制定过程中无重大分歧意见；技术内容</a:t>
            </a:r>
            <a:r>
              <a:rPr sz="2000" b="1">
                <a:solidFill>
                  <a:srgbClr val="FF0000"/>
                </a:solidFill>
                <a:latin typeface="微软雅黑"/>
                <a:ea typeface="微软雅黑"/>
              </a:rPr>
              <a:t>不涉及专利</a:t>
            </a:r>
            <a:r>
              <a:rPr sz="2000" b="1">
                <a:solidFill>
                  <a:srgbClr val="0070C0"/>
                </a:solidFill>
                <a:latin typeface="微软雅黑"/>
                <a:ea typeface="微软雅黑"/>
              </a:rPr>
              <a:t>。本标准属于《医用呼吸机关键零部件》</a:t>
            </a:r>
            <a:r>
              <a:rPr sz="2000" b="1">
                <a:solidFill>
                  <a:srgbClr val="FF0000"/>
                </a:solidFill>
                <a:latin typeface="微软雅黑"/>
                <a:ea typeface="微软雅黑"/>
              </a:rPr>
              <a:t>系列标准</a:t>
            </a:r>
            <a:r>
              <a:rPr sz="2000" b="1">
                <a:solidFill>
                  <a:srgbClr val="0070C0"/>
                </a:solidFill>
                <a:latin typeface="微软雅黑"/>
                <a:ea typeface="微软雅黑"/>
              </a:rPr>
              <a:t>第1部分，后续拟包括气体流量传感器、电磁比例阀、涡轮风机、音圈电机等部分。</a:t>
            </a:r>
          </a:p>
        </p:txBody>
      </p:sp>
      <p:graphicFrame>
        <p:nvGraphicFramePr>
          <p:cNvPr id="48" name="Table 47"/>
          <p:cNvGraphicFramePr>
            <a:graphicFrameLocks noGrp="1"/>
          </p:cNvGraphicFramePr>
          <p:nvPr/>
        </p:nvGraphicFramePr>
        <p:xfrm>
          <a:off x="422001" y="3200000"/>
          <a:ext cx="8299997" cy="2220000"/>
        </p:xfrm>
        <a:graphic>
          <a:graphicData uri="http://schemas.openxmlformats.org/drawingml/2006/table">
            <a:tbl>
              <a:tblPr firstRow="1" bandRow="0" lastRow="0" bandCol="0">
                <a:tableStyleId>{5C22544A-7EE6-4342-B048-85BDC9FD1C3A}</a:tableStyleId>
              </a:tblPr>
              <a:tblGrid>
                <a:gridCol w="2489999"/>
                <a:gridCol w="2904999"/>
                <a:gridCol w="2904999"/>
              </a:tblGrid>
              <a:tr h="370000">
                <a:tc>
                  <a:txBody>
                    <a:bodyPr/>
                    <a:lstStyle/>
                    <a:p>
                      <a:pPr algn="ctr"/>
                      <a:r>
                        <a:rPr sz="1400" b="1">
                          <a:solidFill>
                            <a:srgbClr val="FFFFFF"/>
                          </a:solidFill>
                          <a:latin typeface="微软雅黑"/>
                          <a:ea typeface="微软雅黑"/>
                        </a:rPr>
                        <a:t>系列标准部分</a:t>
                      </a:r>
                    </a:p>
                  </a:txBody>
                  <a:tcPr anchor="ctr">
                    <a:solidFill>
                      <a:srgbClr val="0070C0"/>
                    </a:solidFill>
                  </a:tcPr>
                </a:tc>
                <a:tc>
                  <a:txBody>
                    <a:bodyPr/>
                    <a:lstStyle/>
                    <a:p>
                      <a:pPr algn="ctr"/>
                      <a:r>
                        <a:rPr sz="1400" b="1">
                          <a:solidFill>
                            <a:srgbClr val="FFFFFF"/>
                          </a:solidFill>
                          <a:latin typeface="微软雅黑"/>
                          <a:ea typeface="微软雅黑"/>
                        </a:rPr>
                        <a:t>内容</a:t>
                      </a:r>
                    </a:p>
                  </a:txBody>
                  <a:tcPr anchor="ctr">
                    <a:solidFill>
                      <a:srgbClr val="0070C0"/>
                    </a:solidFill>
                  </a:tcPr>
                </a:tc>
                <a:tc>
                  <a:txBody>
                    <a:bodyPr/>
                    <a:lstStyle/>
                    <a:p>
                      <a:pPr algn="ctr"/>
                      <a:r>
                        <a:rPr sz="1400" b="1">
                          <a:solidFill>
                            <a:srgbClr val="FFFFFF"/>
                          </a:solidFill>
                          <a:latin typeface="微软雅黑"/>
                          <a:ea typeface="微软雅黑"/>
                        </a:rPr>
                        <a:t>状态</a:t>
                      </a:r>
                    </a:p>
                  </a:txBody>
                  <a:tcPr anchor="ctr">
                    <a:solidFill>
                      <a:srgbClr val="0070C0"/>
                    </a:solidFill>
                  </a:tcPr>
                </a:tc>
              </a:tr>
              <a:tr h="370000">
                <a:tc>
                  <a:txBody>
                    <a:bodyPr/>
                    <a:lstStyle/>
                    <a:p>
                      <a:pPr algn="l"/>
                      <a:r>
                        <a:rPr sz="1200" b="0">
                          <a:solidFill>
                            <a:srgbClr val="000000"/>
                          </a:solidFill>
                          <a:latin typeface="微软雅黑"/>
                          <a:ea typeface="微软雅黑"/>
                        </a:rPr>
                        <a:t>第1部分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压力传感器（本标准）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送审稿</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第2部分</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气体流量传感器</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同步推进</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第3部分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电磁比例阀</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同步推进</a:t>
                      </a:r>
                    </a:p>
                  </a:txBody>
                  <a:tcPr anchor="ctr" marL="91440" marR="91440" marT="45720" marB="45720">
                    <a:solidFill>
                      <a:srgbClr val="D9E2F3"/>
                    </a:solidFill>
                  </a:tcPr>
                </a:tc>
              </a:tr>
              <a:tr h="370000">
                <a:tc>
                  <a:txBody>
                    <a:bodyPr/>
                    <a:lstStyle/>
                    <a:p>
                      <a:pPr algn="l"/>
                      <a:r>
                        <a:rPr sz="1200" b="0">
                          <a:solidFill>
                            <a:srgbClr val="000000"/>
                          </a:solidFill>
                          <a:latin typeface="微软雅黑"/>
                          <a:ea typeface="微软雅黑"/>
                        </a:rPr>
                        <a:t>第4部分</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涡轮风机</a:t>
                      </a:r>
                    </a:p>
                  </a:txBody>
                  <a:tcPr anchor="ctr" marL="91440" marR="91440" marT="45720" marB="45720">
                    <a:solidFill>
                      <a:srgbClr val="FFFFFF"/>
                    </a:solidFill>
                  </a:tcPr>
                </a:tc>
                <a:tc>
                  <a:txBody>
                    <a:bodyPr/>
                    <a:lstStyle/>
                    <a:p>
                      <a:pPr algn="ctr"/>
                      <a:r>
                        <a:rPr sz="1200" b="0">
                          <a:solidFill>
                            <a:srgbClr val="000000"/>
                          </a:solidFill>
                          <a:latin typeface="微软雅黑"/>
                          <a:ea typeface="微软雅黑"/>
                        </a:rPr>
                        <a:t>同步推进</a:t>
                      </a:r>
                    </a:p>
                  </a:txBody>
                  <a:tcPr anchor="ctr" marL="91440" marR="91440" marT="45720" marB="45720">
                    <a:solidFill>
                      <a:srgbClr val="FFFFFF"/>
                    </a:solidFill>
                  </a:tcPr>
                </a:tc>
              </a:tr>
              <a:tr h="370000">
                <a:tc>
                  <a:txBody>
                    <a:bodyPr/>
                    <a:lstStyle/>
                    <a:p>
                      <a:pPr algn="l"/>
                      <a:r>
                        <a:rPr sz="1200" b="0">
                          <a:solidFill>
                            <a:srgbClr val="000000"/>
                          </a:solidFill>
                          <a:latin typeface="微软雅黑"/>
                          <a:ea typeface="微软雅黑"/>
                        </a:rPr>
                        <a:t>第5部分</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音圈电机</a:t>
                      </a:r>
                    </a:p>
                  </a:txBody>
                  <a:tcPr anchor="ctr" marL="91440" marR="91440" marT="45720" marB="45720">
                    <a:solidFill>
                      <a:srgbClr val="D9E2F3"/>
                    </a:solidFill>
                  </a:tcPr>
                </a:tc>
                <a:tc>
                  <a:txBody>
                    <a:bodyPr/>
                    <a:lstStyle/>
                    <a:p>
                      <a:pPr algn="ctr"/>
                      <a:r>
                        <a:rPr sz="1200" b="0">
                          <a:solidFill>
                            <a:srgbClr val="000000"/>
                          </a:solidFill>
                          <a:latin typeface="微软雅黑"/>
                          <a:ea typeface="微软雅黑"/>
                        </a:rPr>
                        <a:t>同步推进</a:t>
                      </a:r>
                    </a:p>
                  </a:txBody>
                  <a:tcPr anchor="ctr" marL="91440" marR="91440" marT="45720" marB="45720">
                    <a:solidFill>
                      <a:srgbClr val="D9E2F3"/>
                    </a:solidFill>
                  </a:tcPr>
                </a:tc>
              </a:tr>
            </a:tbl>
          </a:graphicData>
        </a:graphic>
      </p:graphicFrame>
    </p:spTree>
    <p:extLst>
      <p:ext uri="{BB962C8B-B14F-4D97-AF65-F5344CB8AC3E}">
        <p14:creationId xmlns:p14="http://schemas.microsoft.com/office/powerpoint/2010/main" val="1669413360"/>
      </p:ext>
    </p:extLst>
  </p:cSld>
  <p:clrMapOvr>
    <a:masterClrMapping/>
  </p:clrMapOvr>
  <mc:AlternateContent xmlns:mc="http://schemas.openxmlformats.org/markup-compatibility/2006" xmlns:p14="http://schemas.microsoft.com/office/powerpoint/2010/main">
    <mc:Choice Requires="p14">
      <p:transition spd="slow" p14:dur="2000" advTm="59630"/>
    </mc:Choice>
    <mc:Fallback xmlns="">
      <p:transition spd="slow" advTm="5963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668179" y="2060848"/>
            <a:ext cx="4136069" cy="923330"/>
          </a:xfrm>
          <a:prstGeom prst="rect">
            <a:avLst/>
          </a:prstGeom>
          <a:noFill/>
        </p:spPr>
        <p:txBody>
          <a:bodyPr wrap="square" rtlCol="0">
            <a:spAutoFit/>
          </a:bodyPr>
          <a:lstStyle/>
          <a:p>
            <a:pPr algn="dist"/>
            <a:r>
              <a:rPr lang="zh-CN" altLang="en-US" sz="5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
            </a:r>
            <a:r>
              <a:rPr sz="5400" b="1">
                <a:solidFill>
                  <a:srgbClr val="0070C0"/>
                </a:solidFill>
                <a:latin typeface="微软雅黑"/>
                <a:ea typeface="微软雅黑"/>
              </a:rPr>
              <a:t>敬请指正！</a:t>
            </a:r>
          </a:p>
        </p:txBody>
      </p:sp>
      <p:sp>
        <p:nvSpPr>
          <p:cNvPr id="51" name="文本框 50"/>
          <p:cNvSpPr txBox="1"/>
          <p:nvPr/>
        </p:nvSpPr>
        <p:spPr>
          <a:xfrm>
            <a:off x="1597034" y="4500570"/>
            <a:ext cx="4136069" cy="369332"/>
          </a:xfrm>
          <a:prstGeom prst="rect">
            <a:avLst/>
          </a:prstGeom>
          <a:noFill/>
        </p:spPr>
        <p:txBody>
          <a:bodyPr wrap="none" rtlCol="0">
            <a:spAutoFit/>
          </a:bodyPr>
          <a:lstStyle/>
          <a:p>
            <a:pPr algn="l"/>
            <a:r>
              <a:rPr lang="zh-CN" altLang="en-US" b="1" dirty="0">
                <a:latin typeface="Times New Roman" panose="02020603050405020304" pitchFamily="18" charset="0"/>
                <a:ea typeface="汉仪粗宋简" panose="02010604000101010101" charset="-122"/>
                <a:cs typeface="Times New Roman" panose="02020603050405020304" pitchFamily="18" charset="0"/>
              </a:rPr>
              <a:t/>
            </a:r>
            <a:r>
              <a:rPr sz="1800" b="1">
                <a:solidFill>
                  <a:srgbClr val="0070C0"/>
                </a:solidFill>
                <a:latin typeface="汉仪粗宋简"/>
                <a:ea typeface="汉仪粗宋简"/>
              </a:rPr>
              <a:t>机械工业仪器仪表综合技术经济研究所</a:t>
            </a:r>
          </a:p>
        </p:txBody>
      </p:sp>
      <p:sp>
        <p:nvSpPr>
          <p:cNvPr id="10" name="文本框 9"/>
          <p:cNvSpPr txBox="1"/>
          <p:nvPr/>
        </p:nvSpPr>
        <p:spPr>
          <a:xfrm>
            <a:off x="1607193" y="4832347"/>
            <a:ext cx="3980577" cy="1274195"/>
          </a:xfrm>
          <a:prstGeom prst="rect">
            <a:avLst/>
          </a:prstGeom>
          <a:noFill/>
        </p:spPr>
        <p:txBody>
          <a:bodyPr wrap="none" rtlCol="0">
            <a:spAutoFit/>
          </a:bodyPr>
          <a:lstStyle/>
          <a:p>
            <a:pPr algn="l">
              <a:lnSpc>
                <a:spcPct val="120000"/>
              </a:lnSpc>
              <a:spcBef>
                <a:spcPts val="0"/>
              </a:spcBef>
              <a:spcAft>
                <a:spcPts val="0"/>
              </a:spcAft>
            </a:pPr>
            <a:r>
              <a:rPr lang="zh-CN" altLang="en-US" sz="1600" b="1" dirty="0">
                <a:latin typeface="Times New Roman" panose="02020603050405020304" pitchFamily="18" charset="0"/>
                <a:ea typeface="微软雅黑" panose="020B0503020204020204" charset="-122"/>
                <a:cs typeface="Times New Roman" panose="02020603050405020304" pitchFamily="18" charset="0"/>
              </a:rPr>
              <a:t/>
            </a:r>
            <a:r>
              <a:rPr sz="1600" b="1">
                <a:solidFill>
                  <a:srgbClr val="0070C0"/>
                </a:solidFill>
                <a:latin typeface="微软雅黑"/>
                <a:ea typeface="微软雅黑"/>
              </a:rPr>
              <a:t>地址：北京市西城区广安门外大街甲397号
电话：010-63261819
传真：010-63262677
网址：http://www.itei.cn</a:t>
            </a:r>
          </a:p>
        </p:txBody>
      </p:sp>
    </p:spTree>
  </p:cSld>
  <p:clrMapOvr>
    <a:masterClrMapping/>
  </p:clrMapOvr>
  <mc:AlternateContent xmlns:mc="http://schemas.openxmlformats.org/markup-compatibility/2006" xmlns:p14="http://schemas.microsoft.com/office/powerpoint/2010/main">
    <mc:Choice Requires="p14">
      <p:transition spd="slow" p14:dur="2000" advTm="7017"/>
    </mc:Choice>
    <mc:Fallback xmlns="">
      <p:transition spd="slow" advTm="701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GE2Mjg2YTZkZTMyMTYwY2M1OTQ5YzJlN2MyYmRjOGEifQ=="/>
</p:tagLst>
</file>

<file path=ppt/theme/theme1.xml><?xml version="1.0" encoding="utf-8"?>
<a:theme xmlns:a="http://schemas.openxmlformats.org/drawingml/2006/main" name="7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7_默认设计模板">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CDESIGNM</Template>
  <TotalTime>1793</TotalTime>
  <Words>1313</Words>
  <Application>Microsoft Office PowerPoint</Application>
  <PresentationFormat>全屏显示(4:3)</PresentationFormat>
  <Paragraphs>187</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汉仪粗宋简</vt:lpstr>
      <vt:lpstr>黑体</vt:lpstr>
      <vt:lpstr>微软雅黑</vt:lpstr>
      <vt:lpstr>Arial</vt:lpstr>
      <vt:lpstr>Times New Roman</vt:lpstr>
      <vt:lpstr>7_默认设计模板</vt:lpstr>
      <vt:lpstr>PowerPoint 演示文稿</vt:lpstr>
      <vt:lpstr>汇报内容</vt:lpstr>
      <vt:lpstr>PowerPoint 演示文稿</vt:lpstr>
      <vt:lpstr>PowerPoint 演示文稿</vt:lpstr>
      <vt:lpstr>汇报内容</vt:lpstr>
      <vt:lpstr>PowerPoint 演示文稿</vt:lpstr>
      <vt:lpstr>PowerPoint 演示文稿</vt:lpstr>
      <vt:lpstr>汇报内容</vt:lpstr>
      <vt:lpstr>PowerPoint 演示文稿</vt:lpstr>
      <vt:lpstr>PowerPoint 演示文稿</vt:lpstr>
      <vt:lpstr>PowerPoint 演示文稿</vt:lpstr>
      <vt:lpstr>汇报内容</vt:lpstr>
      <vt:lpstr>PowerPoint 演示文稿</vt:lpstr>
      <vt:lpstr>PowerPoint 演示文稿</vt:lpstr>
      <vt:lpstr>汇报内容</vt:lpstr>
      <vt:lpstr>PowerPoint 演示文稿</vt:lpstr>
      <vt:lpstr>PowerPoint 演示文稿</vt:lpstr>
      <vt:lpstr>汇报内容</vt:lpstr>
      <vt:lpstr>PowerPoint 演示文稿</vt:lpstr>
      <vt:lpstr>PowerPoint 演示文稿</vt:lpstr>
      <vt:lpstr>PowerPoint 演示文稿</vt:lpstr>
    </vt:vector>
  </TitlesOfParts>
  <Company>HKZJZ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mk</dc:creator>
  <cp:lastModifiedBy>实 陈</cp:lastModifiedBy>
  <cp:revision>7288</cp:revision>
  <cp:lastPrinted>2017-05-13T11:22:00Z</cp:lastPrinted>
  <dcterms:created xsi:type="dcterms:W3CDTF">2005-07-20T01:43:00Z</dcterms:created>
  <dcterms:modified xsi:type="dcterms:W3CDTF">2026-03-24T11:48:09Z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2052-11.1.0.11875</vt:lpwstr>
  </property>
  <property fmtid="{D5CDD505-2E9C-101B-9397-08002B2CF9AE}" pid="3" name="ICV">
    <vt:lpwstr>3135ECB46ABE44C8A04BDA2A06D2B8EC</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1649208504</vt:lpwstr>
  </property>
  <property fmtid="{D5CDD505-2E9C-101B-9397-08002B2CF9AE}" pid="8" name="commondata">
    <vt:lpwstr>eyJoZGlkIjoiZjkyMjYxYzY4NTg2YWJmNjQ1ZGJjYmU2OTUzNzBlYTQifQ==</vt:lpwstr>
  </property>
</Properties>
</file>