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5536" y="1722406"/>
            <a:ext cx="8404225" cy="141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0444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医用呼吸机关键零部件 第1部分：压力传感器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63688" y="3429000"/>
            <a:ext cx="5871596" cy="62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2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团体标准送审稿审查汇报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61850" y="4400000"/>
            <a:ext cx="5871596" cy="57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20"/>
              </a:lnSpc>
              <a:buNone/>
            </a:pPr>
            <a:r>
              <a:rPr lang="en-US" sz="2800" b="1" dirty="0">
                <a:solidFill>
                  <a:srgbClr val="004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汇报人：Phase 1 Gate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5852" y="4950000"/>
            <a:ext cx="6510359" cy="49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4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2026年04月09日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9952" y="188640"/>
            <a:ext cx="1620957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汇报内容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195246" y="1585973"/>
            <a:ext cx="5913119" cy="46987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027" y="1631029"/>
            <a:ext cx="930197" cy="424818"/>
          </a:xfrm>
          <a:prstGeom prst="parallelogram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5710" y="1585973"/>
            <a:ext cx="434607" cy="36238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489686" y="1584042"/>
            <a:ext cx="705560" cy="469874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2460000">
            <a:off x="994460" y="1621786"/>
            <a:ext cx="599260" cy="368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18603" y="1584042"/>
            <a:ext cx="5796384" cy="39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一、项目背景及必要性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01461" y="2297126"/>
            <a:ext cx="5907322" cy="458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353" y="2341091"/>
            <a:ext cx="929285" cy="414526"/>
          </a:xfrm>
          <a:prstGeom prst="parallelogram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3082" y="2297126"/>
            <a:ext cx="434180" cy="353603"/>
          </a:xfrm>
          <a:prstGeom prst="ellipse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496593" y="2295242"/>
            <a:ext cx="704868" cy="458491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2460000">
            <a:off x="991920" y="2339692"/>
            <a:ext cx="56019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64726" y="2291432"/>
            <a:ext cx="598300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二、项目适用范围及主要内容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201498" y="3003881"/>
            <a:ext cx="5907502" cy="458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355" y="3047846"/>
            <a:ext cx="929313" cy="414526"/>
          </a:xfrm>
          <a:prstGeom prst="parallelogram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3082" y="3003881"/>
            <a:ext cx="434194" cy="353603"/>
          </a:xfrm>
          <a:prstGeom prst="ellipse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1496608" y="3001997"/>
            <a:ext cx="704890" cy="458491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2460000">
            <a:off x="991920" y="3046447"/>
            <a:ext cx="56021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67594" y="2998187"/>
            <a:ext cx="530257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三、项目制定过程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198892" y="3712533"/>
            <a:ext cx="5910108" cy="4578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6250" y="3756438"/>
            <a:ext cx="929723" cy="413959"/>
          </a:xfrm>
          <a:prstGeom prst="parallelogram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957" y="3712533"/>
            <a:ext cx="434385" cy="353119"/>
          </a:xfrm>
          <a:prstGeom prst="ellipse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493691" y="3710652"/>
            <a:ext cx="705201" cy="457864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2460000">
            <a:off x="988110" y="3755675"/>
            <a:ext cx="559792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66433" y="3706847"/>
            <a:ext cx="5941860" cy="39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四、国内外先进性、创新性、产业化情况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198784" y="4417391"/>
            <a:ext cx="5909581" cy="458491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6243" y="4461356"/>
            <a:ext cx="929640" cy="414526"/>
          </a:xfrm>
          <a:prstGeom prst="parallelogram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954" y="4417391"/>
            <a:ext cx="434346" cy="353603"/>
          </a:xfrm>
          <a:prstGeom prst="ellipse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1493646" y="4415507"/>
            <a:ext cx="705138" cy="458491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 rot="2460000">
            <a:off x="988110" y="4460592"/>
            <a:ext cx="55337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166328" y="4411697"/>
            <a:ext cx="5404233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五、预期达到的经济社会效益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182382" y="5059368"/>
            <a:ext cx="5910108" cy="4578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9740" y="5103273"/>
            <a:ext cx="929723" cy="413959"/>
          </a:xfrm>
          <a:prstGeom prst="parallelogram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3447" y="5059368"/>
            <a:ext cx="434385" cy="353119"/>
          </a:xfrm>
          <a:prstGeom prst="ellipse">
            <a:avLst/>
          </a:prstGeom>
          <a:solidFill>
            <a:srgbClr val="044470"/>
          </a:solidFill>
          <a:ln w="12700">
            <a:solidFill>
              <a:srgbClr val="04447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1477181" y="5057487"/>
            <a:ext cx="705201" cy="457864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 rot="2460000">
            <a:off x="971600" y="5102510"/>
            <a:ext cx="559792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49923" y="5053682"/>
            <a:ext cx="5941860" cy="39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六、其他需要说明的问题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9220" y="188640"/>
            <a:ext cx="3882794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一、项目背景及必要性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5134" y="953276"/>
            <a:ext cx="2470681" cy="461665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5134" y="953276"/>
            <a:ext cx="2470681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项目背景及意义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45134" y="1556792"/>
            <a:ext cx="8480377" cy="156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本标准是工作组的</a:t>
            </a:r>
            <a:pPr algn="just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第一项</a:t>
            </a:r>
            <a:pPr algn="just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术语标准。旨在统一医疗装备产业与应用领域的术语和定义，为医疗装备的研发、生产、使用、服务及退役</a:t>
            </a:r>
            <a:pPr algn="just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等环节提供通用语言基础和一致性指导，促进</a:t>
            </a:r>
            <a:pPr algn="just" indent="0" marL="0">
              <a:buNone/>
            </a:pPr>
            <a:r>
              <a:rPr lang="en-US" sz="24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产业链上下游的协同发展。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2001" y="3429000"/>
          <a:ext cx="8299998" cy="2773680"/>
        </p:xfrm>
        <a:graphic>
          <a:graphicData uri="http://schemas.openxmlformats.org/drawingml/2006/table">
            <a:tbl>
              <a:tblPr/>
              <a:tblGrid>
                <a:gridCol w="2768400"/>
                <a:gridCol w="2768400"/>
                <a:gridCol w="2768400"/>
              </a:tblGrid>
              <a:tr h="273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政策文件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44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发布机构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44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核心要求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4470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《“十四五”医疗装备产业发展规划》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工信部、卫健委等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完善医疗装备产业与应用标准体系建设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《医疗器械监督管理条例》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国务院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支持基础研究和应用研究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《优化全生命周期监管支持高端医疗器械创新发展有关举措》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国家药监局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强化标准引领创新，加快标准制修订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179" y="2060848"/>
            <a:ext cx="4136069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敬请指正！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97034" y="4500570"/>
            <a:ext cx="413606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  <a:latin typeface="汉仪粗宋简" pitchFamily="34" charset="0"/>
                <a:ea typeface="汉仪粗宋简" pitchFamily="34" charset="-122"/>
                <a:cs typeface="汉仪粗宋简" pitchFamily="34" charset="-120"/>
              </a:rPr>
              <a:t>机械工业仪器仪表综合技术经济研究所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07193" y="4832347"/>
            <a:ext cx="3980577" cy="1274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地址：北京市西城区广安门外大街甲397号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电话：010-63261819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传真：010-63262677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网址：http://www.itei.cn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2026-04-13T03:30:22Z</dcterms:created>
  <dcterms:modified xsi:type="dcterms:W3CDTF">2026-04-13T03:30:22Z</dcterms:modified>
</cp:coreProperties>
</file>